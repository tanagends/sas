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/>
  <p:notesSz cx="51435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75376486" val="1230" revOS="4"/>
      <pr:smFileRevision xmlns:pr="smNativeData" xmlns="smNativeData" dt="1775376486" val="101"/>
      <pr:guideOptions xmlns:pr="smNativeData" xmlns="smNativeData" dt="1775376486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 snapToObjects="1">
      <p:cViewPr>
        <p:scale>
          <a:sx n="82" d="100"/>
          <a:sy n="82" d="100"/>
        </p:scale>
        <p:origin x="2561" y="366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" d="100"/>
        <a:sy n="1" d="100"/>
      </p:scale>
      <p:origin x="0" y="0"/>
    </p:cViewPr>
  </p:sorterViewPr>
  <p:notesViewPr>
    <p:cSldViewPr snapToGrid="0" snapToObjects="1">
      <p:cViewPr>
        <p:scale>
          <a:sx n="82" d="100"/>
          <a:sy n="82" d="100"/>
        </p:scale>
        <p:origin x="2561" y="366"/>
      </p:cViewPr>
    </p:cSldViewPr>
  </p:notesViewPr>
  <p:gridSpacing cx="78028800" cy="7802880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wIAABAAAAAmAAAACAAAAD+PAAAAAA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wIAABAAAAAmAAAACAAAAD+PAAAAAAAA"/>
              </a:ext>
            </a:extLst>
          </p:cNvSpPr>
          <p:nvPr>
            <p:ph type="dt" idx="10"/>
          </p:nvPr>
        </p:nvSpPr>
        <p:spPr>
          <a:xfrm>
            <a:off x="388493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3C095376-38D1-5CA5-9FB1-CEF01DFF699B}" type="datetime1">
              <a:t>7/23/19</a:t>
            </a:fld>
          </a:p>
        </p:txBody>
      </p:sp>
      <p:sp>
        <p:nvSpPr>
          <p:cNvPr id="4" name="Slide Image Placeholder 3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L8PAAD/HwAA"/>
              </a:ext>
            </a:extLst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/>
            <a:endParaRPr lang="en-us" cap="none"/>
          </a:p>
        </p:txBody>
      </p:sp>
      <p:sp>
        <p:nvSpPr>
          <p:cNvPr id="5" name="Notes Placeholder 4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D8PAAD/HwAA"/>
              </a:ext>
            </a:extLst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/>
            <a:r>
              <a:rPr lang="en-us" cap="none"/>
              <a:t>Click to edit Master text styles</a:t>
            </a:r>
            <a:endParaRPr lang="en-us" cap="none"/>
          </a:p>
          <a:p>
            <a:pPr lvl="1"/>
            <a:r>
              <a:rPr lang="en-us" cap="none"/>
              <a:t>Second level</a:t>
            </a:r>
            <a:endParaRPr lang="en-us" cap="none"/>
          </a:p>
          <a:p>
            <a:pPr lvl="2"/>
            <a:r>
              <a:rPr lang="en-us" cap="none"/>
              <a:t>Third level</a:t>
            </a:r>
            <a:endParaRPr lang="en-us" cap="none"/>
          </a:p>
          <a:p>
            <a:pPr lvl="3"/>
            <a:r>
              <a:rPr lang="en-us" cap="none"/>
              <a:t>Fourth level</a:t>
            </a:r>
            <a:endParaRPr lang="en-us" cap="none"/>
          </a:p>
          <a:p>
            <a:pPr lvl="4"/>
            <a:r>
              <a:rPr lang="en-us" cap="none"/>
              <a:t>Fifth level</a:t>
            </a:r>
            <a:endParaRPr lang="en-us" cap="none"/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G41AABIEgAAQDgAABAAAAAmAAAACAAAAL+PAAD/HwAA"/>
              </a:ext>
            </a:extLst>
          </p:cNvSpPr>
          <p:nvPr>
            <p:ph type="ftr" sz="quarter" idx="11"/>
          </p:nvPr>
        </p:nvSpPr>
        <p:spPr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L+PAAD/Hw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3C093F27-69D1-5CC9-9FB1-9F9C71FF69CA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themeOverride" Target="../theme/themeOverr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themeOverride" Target="../theme/themeOverride2.xml"/></Relationships>
</file>

<file path=ppt/notesSlides/_rels/notesSlide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themeOverride" Target="../theme/themeOverride3.xml"/></Relationships>
</file>

<file path=ppt/notesSlides/_rels/notesSlide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Relationship Id="rId3" Type="http://schemas.openxmlformats.org/officeDocument/2006/relationships/themeOverride" Target="../theme/themeOverride4.xml"/></Relationships>
</file>

<file path=ppt/notesSlides/_rels/notesSlide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Relationship Id="rId3" Type="http://schemas.openxmlformats.org/officeDocument/2006/relationships/themeOverride" Target="../theme/themeOverride5.xml"/></Relationships>
</file>

<file path=ppt/notesSlides/_rels/notesSlide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Relationship Id="rId3" Type="http://schemas.openxmlformats.org/officeDocument/2006/relationships/themeOverride" Target="../theme/themeOverride6.xml"/></Relationships>
</file>

<file path=ppt/notesSlides/_rels/notesSlide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Relationship Id="rId3" Type="http://schemas.openxmlformats.org/officeDocument/2006/relationships/themeOverride" Target="../theme/themeOverride7.xml"/></Relationships>
</file>

<file path=ppt/notesSlides/_rels/notesSlide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Relationship Id="rId3" Type="http://schemas.openxmlformats.org/officeDocument/2006/relationships/themeOverride" Target="../theme/themeOverride8.xml"/></Relationships>
</file>

<file path=ppt/notesSlides/_rels/notesSlide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Relationship Id="rId3" Type="http://schemas.openxmlformats.org/officeDocument/2006/relationships/themeOverride" Target="../theme/themeOverride9.xml"/></Relationships>
</file>

<file path=ppt/notesSlides/_rels/notesSlide1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Relationship Id="rId3" Type="http://schemas.openxmlformats.org/officeDocument/2006/relationships/themeOverride" Target="../theme/themeOverride10.xml"/></Relationships>
</file>

<file path=ppt/notesSlides/_rels/notesSlide1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Relationship Id="rId3" Type="http://schemas.openxmlformats.org/officeDocument/2006/relationships/themeOverride" Target="../theme/themeOverride11.xml"/></Relationships>
</file>

<file path=ppt/notesSlides/_rels/notesSlide1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Relationship Id="rId3" Type="http://schemas.openxmlformats.org/officeDocument/2006/relationships/themeOverride" Target="../theme/themeOverride12.xml"/></Relationships>
</file>

<file path=ppt/notesSlides/_rels/notesSlide1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Relationship Id="rId3" Type="http://schemas.openxmlformats.org/officeDocument/2006/relationships/themeOverride" Target="../theme/themeOverride13.xml"/></Relationships>
</file>

<file path=ppt/notesSlides/_rels/notesSlide1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Relationship Id="rId3" Type="http://schemas.openxmlformats.org/officeDocument/2006/relationships/themeOverride" Target="../theme/themeOverride14.xml"/></Relationships>
</file>

<file path=ppt/notesSlides/_rels/notesSlide1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Relationship Id="rId3" Type="http://schemas.openxmlformats.org/officeDocument/2006/relationships/themeOverride" Target="../theme/themeOverride15.xml"/></Relationships>
</file>

<file path=ppt/notesSlides/_rels/notesSlide1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Relationship Id="rId3" Type="http://schemas.openxmlformats.org/officeDocument/2006/relationships/themeOverride" Target="../theme/themeOverride16.xml"/></Relationships>
</file>

<file path=ppt/notesSlides/_rels/notesSlide1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Relationship Id="rId3" Type="http://schemas.openxmlformats.org/officeDocument/2006/relationships/themeOverride" Target="../theme/themeOverride17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EAZ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516B-25D1-5CA7-9FB1-D3F21FFF6986}" type="slidenum">
              <a:t>1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626B-25D1-5C94-9FB1-D3C12CFF6986}" type="slidenum">
              <a:rPr lang="en-us" cap="none"/>
              <a:t>2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7085-CBD1-5C86-9FB1-3DD33EFF6968}" type="slidenum">
              <a:rPr lang="en-us" cap="none"/>
              <a:t>3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3C3C-72D1-5CCA-9FB1-849F72FF69D1}" type="slidenum">
              <a:rPr lang="en-us" cap="none"/>
              <a:t>4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184A-04D1-5CEE-9FB1-F2BB56FF69A7}" type="slidenum">
              <a:rPr lang="en-us" cap="none"/>
              <a:t>5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6045-0BD1-5C96-9FB1-FDC32EFF69A8}" type="slidenum">
              <a:rPr lang="en-us" cap="none"/>
              <a:t>6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Ij1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8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2CBD-F3D1-5CDA-9FB1-058F62FF6950}" type="slidenum">
              <a:rPr lang="en-us" cap="none"/>
              <a:t>7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H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3338-76D1-5CC5-9FB1-80907DFF69D5}" type="slidenum">
              <a:rPr lang="en-us" cap="none"/>
              <a:t>8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4AA0-EED1-5CBC-9FB1-18E904FF694D}" type="slidenum">
              <a:rPr lang="en-us" cap="none"/>
              <a:t>9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078E-C0D1-5CF1-9FB1-36A449FF6963}" type="slidenum">
              <a:rPr lang="en-us" cap="none"/>
              <a:t>10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5849-07D1-5CAE-9FB1-F1FB16FF69A4}" type="slidenum">
              <a:rPr lang="en-us" cap="none"/>
              <a:t>11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sEVx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47B4-FAD1-5CB1-9FB1-0CE409FF6959}" type="slidenum">
              <a:rPr lang="en-us" cap="none"/>
              <a:t>12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3437-79D1-5CC2-9FB1-8F977AFF69DA}" type="slidenum">
              <a:rPr lang="en-us" cap="none"/>
              <a:t>13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21A8-E6D1-5CD7-9FB1-10826FFF6945}" type="slidenum">
              <a:rPr lang="en-us" cap="none"/>
              <a:t>14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c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4757-19D1-5CB1-9FB1-EFE409FF69BA}" type="slidenum">
              <a:rPr lang="en-us" cap="none"/>
              <a:t>15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6ACF-81D1-5C9C-9FB1-77C924FF6922}" type="slidenum">
              <a:rPr lang="en-us" cap="none"/>
              <a:t>16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xmlns="smNativeData" val="SMDATA_15_ZhjS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AEAAAAAAAAA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AEAAAAAAAAA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pPr/>
            <a:endParaRPr lang="en-us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ZhjS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AEAAAAAAA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</p:spPr>
        <p:txBody>
          <a:bodyPr/>
          <a:lstStyle/>
          <a:p>
            <a:pPr/>
            <a:fld id="{3C0948BD-F3D1-5CBE-9FB1-05EB06FF6950}" type="slidenum">
              <a:rPr lang="en-us" cap="none"/>
              <a:t>17</a:t>
            </a:fld>
            <a:endParaRPr lang="en-us" cap="non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1"/>
          </a:solidFill>
          <a:effectLst/>
          <a:latin typeface="Calibri Light" pitchFamily="2" charset="0"/>
          <a:ea typeface="Calibri Light" pitchFamily="2" charset="0"/>
          <a:cs typeface="Calibri Light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e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e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e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e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e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e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eg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eg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eg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/Relationships>
</file>

<file path=ppt/slides/_rels/slide1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/Relationships>
</file>

<file path=ppt/slides/_rels/slide1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eg"/></Relationships>
</file>

<file path=ppt/slides/_rels/slide1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eg"/></Relationships>
</file>

<file path=ppt/slides/_rels/slide1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eg"/></Relationships>
</file>

<file path=ppt/slides/_rels/slide1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hjS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wX1c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RyxAX///8BAAAAAAAAAAAAAAAAAAAAAAAAAAAAAAAAAAAAAAAAAAAAAAACf39/AOfm5gPMzMwAwMD/AH9/fwAAAAAAAAAAAAAAAAD///8AAAAAACEAAAAYAAAAFAAAAFAQAAA9AQAA8CcAAEoF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01295"/>
            <a:ext cx="3840480" cy="6584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 0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N0GAABwNQAAIAoAABAAAAAmAAAACAAAAP//////////"/>
              </a:ext>
            </a:extLst>
          </p:cNvSpPr>
          <p:nvPr/>
        </p:nvSpPr>
        <p:spPr>
          <a:xfrm>
            <a:off x="457200" y="1115695"/>
            <a:ext cx="8229600" cy="530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3000" b="1" cap="none">
                <a:solidFill>
                  <a:srgbClr val="1C3557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Java Programming Cornerstone Project</a:t>
            </a:r>
            <a:endParaRPr lang="en-us" sz="3000" cap="none"/>
          </a:p>
        </p:txBody>
      </p:sp>
      <p:sp>
        <p:nvSpPr>
          <p:cNvPr id="4" name="Text 1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AMKAABwNQAA8AwAABAAAAAmAAAACAAAAP//////////"/>
              </a:ext>
            </a:extLst>
          </p:cNvSpPr>
          <p:nvPr/>
        </p:nvSpPr>
        <p:spPr>
          <a:xfrm>
            <a:off x="457200" y="1627505"/>
            <a:ext cx="8229600" cy="4756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800" b="1" cap="none">
                <a:solidFill>
                  <a:srgbClr val="1C3557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Final Review</a:t>
            </a:r>
            <a:endParaRPr lang="en-us" sz="28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4gIAAOsMAACCNQAAAxAAABAAAAAmAAAACAAAAP//////////"/>
              </a:ext>
            </a:extLst>
          </p:cNvSpPr>
          <p:nvPr/>
        </p:nvSpPr>
        <p:spPr>
          <a:xfrm>
            <a:off x="468630" y="2099945"/>
            <a:ext cx="8229600" cy="502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2600" b="1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Student Attendance System</a:t>
            </a:r>
            <a:endParaRPr lang="en-us" sz="260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8/T//38QAACTJwAAohIAABAAAAAmAAAACAAAAP//////////"/>
              </a:ext>
            </a:extLst>
          </p:cNvSpPr>
          <p:nvPr/>
        </p:nvSpPr>
        <p:spPr>
          <a:xfrm>
            <a:off x="-1796415" y="2681605"/>
            <a:ext cx="8229600" cy="3473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900" b="1" i="1" cap="none">
                <a:solidFill>
                  <a:srgbClr val="E8732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Presented by</a:t>
            </a:r>
            <a:endParaRPr lang="en-us" sz="190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CMUAABwNQAAYxYAAAAAAAAmAAAACAAAAP//////////"/>
              </a:ext>
            </a:extLst>
          </p:cNvSpPr>
          <p:nvPr/>
        </p:nvSpPr>
        <p:spPr>
          <a:xfrm>
            <a:off x="457200" y="3273425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cap="none" spc="0" baseline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effectLst/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  <a:r>
              <a:rPr sz="1400" b="1" cap="none"/>
              <a:t>B L V Surya Prakash	(25B21CS066)</a:t>
            </a:r>
            <a:endParaRPr sz="1400" b="1" cap="none"/>
          </a:p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1" i="0" u="none" strike="noStrike" kern="1" cap="none" spc="0" baseline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effectLst/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  <a:r>
              <a:t>T Naga Sai Charan	(25B21CS070)</a:t>
            </a:r>
          </a:p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1" i="0" u="none" strike="noStrike" kern="1" cap="none" spc="0" baseline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effectLst/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  <a:r>
              <a:t>          Tanatswa Hilary Gendere	(24B11CS529)</a:t>
            </a:r>
          </a:p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1" i="0" u="none" strike="noStrike" kern="1" cap="none" spc="0" baseline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effectLst/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  <a:r>
              <a:t>Blessed Zambezi	(24B11CS537)</a:t>
            </a:r>
          </a:p>
        </p:txBody>
      </p:sp>
      <p:sp>
        <p:nvSpPr>
          <p:cNvPr id="8" name="Text 5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MAYAABwNQAA4xoAAAAAAAAmAAAACAAAAP//////////"/>
              </a:ext>
            </a:extLst>
          </p:cNvSpPr>
          <p:nvPr/>
        </p:nvSpPr>
        <p:spPr>
          <a:xfrm>
            <a:off x="457200" y="4023360"/>
            <a:ext cx="8229600" cy="3473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b="1" cap="none">
                <a:solidFill>
                  <a:srgbClr val="E8732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Department of Computer Science and Engineering</a:t>
            </a:r>
            <a:endParaRPr lang="en-us" b="1" cap="none">
              <a:solidFill>
                <a:srgbClr val="E8732A"/>
              </a:solidFill>
              <a:latin typeface="Garamond" pitchFamily="1" charset="0"/>
              <a:ea typeface="Garamond" pitchFamily="1" charset="0"/>
              <a:cs typeface="Garamond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hjS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AMBAABzAAAA6wYAAIs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" y="73025"/>
            <a:ext cx="96012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Shape 0"/>
          <p:cNvSpPr>
            <a:extLst>
              <a:ext uri="smNativeData">
                <pr:smNativeData xmlns:pr="smNativeData" xmlns="smNativeData" val="SMDATA_15_ZhjSaRMAAAAlAAAAZQAAAA0AAAAAkAAAAEgAAACQAAAASAAAAAAAAAAAAAAAAAAAAAEAAABQAAAALuI7MevFyD8AAAAAAADwv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oundRect">
            <a:avLst>
              <a:gd name="adj" fmla="val 9677"/>
            </a:avLst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Text 1"/>
          <p:cNvSpPr>
            <a:extLst>
              <a:ext uri="smNativeData">
                <pr:smNativeData xmlns:pr="smNativeData" xmlns="smNativeData" val="SMDATA_15_ZhjS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Presentation Outline</a:t>
            </a:r>
            <a:endParaRPr lang="en-us" sz="2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OAQAAPMEAAAINAAAQx4AABAAAAAmAAAACAAAAP//////////"/>
              </a:ext>
            </a:extLst>
          </p:cNvSpPr>
          <p:nvPr/>
        </p:nvSpPr>
        <p:spPr>
          <a:xfrm>
            <a:off x="685800" y="804545"/>
            <a:ext cx="7772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19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1.  Abstract</a:t>
            </a:r>
            <a:endParaRPr lang="en-us" sz="1900" cap="none"/>
          </a:p>
          <a:p>
            <a:pPr marL="0" indent="0">
              <a:spcAft>
                <a:spcPts val="1400"/>
              </a:spcAft>
              <a:buNone/>
            </a:pPr>
            <a:r>
              <a:rPr lang="en-us" sz="19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2.  Introduction</a:t>
            </a:r>
            <a:endParaRPr lang="en-us" sz="1900" cap="none"/>
          </a:p>
          <a:p>
            <a:pPr marL="0" indent="0">
              <a:spcAft>
                <a:spcPts val="1400"/>
              </a:spcAft>
              <a:buNone/>
            </a:pPr>
            <a:r>
              <a:rPr lang="en-us" sz="19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3.  System Analysis</a:t>
            </a:r>
            <a:endParaRPr lang="en-us" sz="1900" cap="none"/>
          </a:p>
          <a:p>
            <a:pPr marL="0" indent="0">
              <a:spcAft>
                <a:spcPts val="1400"/>
              </a:spcAft>
              <a:buNone/>
            </a:pPr>
            <a:r>
              <a:rPr lang="en-us" sz="19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4.  Database Design</a:t>
            </a:r>
            <a:endParaRPr lang="en-us" sz="1900" cap="none"/>
          </a:p>
          <a:p>
            <a:pPr marL="0" indent="0">
              <a:spcAft>
                <a:spcPts val="1400"/>
              </a:spcAft>
              <a:buNone/>
            </a:pPr>
            <a:r>
              <a:rPr lang="en-us" sz="19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5.  System Design</a:t>
            </a:r>
            <a:endParaRPr lang="en-us" sz="1900" cap="none"/>
          </a:p>
          <a:p>
            <a:pPr marL="0" indent="0">
              <a:spcAft>
                <a:spcPts val="1400"/>
              </a:spcAft>
              <a:buNone/>
            </a:pPr>
            <a:r>
              <a:rPr lang="en-us" sz="19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6.  System Implementation</a:t>
            </a:r>
            <a:endParaRPr lang="en-us" sz="1900" cap="none"/>
          </a:p>
          <a:p>
            <a:pPr marL="0" indent="0">
              <a:spcAft>
                <a:spcPts val="1400"/>
              </a:spcAft>
              <a:buNone/>
            </a:pPr>
            <a:r>
              <a:rPr lang="en-us" sz="19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7.  Future Enhancements</a:t>
            </a:r>
            <a:endParaRPr lang="en-us" sz="1900" cap="none"/>
          </a:p>
          <a:p>
            <a:pPr marL="0" indent="0">
              <a:spcAft>
                <a:spcPts val="1400"/>
              </a:spcAft>
              <a:buNone/>
            </a:pPr>
            <a:r>
              <a:rPr lang="en-us" sz="19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8.  References</a:t>
            </a:r>
            <a:endParaRPr lang="en-us" sz="1900" cap="none"/>
          </a:p>
          <a:p>
            <a:pPr marL="0" indent="0">
              <a:spcAft>
                <a:spcPts val="1400"/>
              </a:spcAft>
              <a:buNone/>
            </a:pPr>
            <a:r>
              <a:rPr lang="en-us" sz="19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9.  Conclusion</a:t>
            </a:r>
            <a:endParaRPr lang="en-us" sz="19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hjS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wX1c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AMBAABzAAAA6wYAAIs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" y="73025"/>
            <a:ext cx="96012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Shape 0"/>
          <p:cNvSpPr>
            <a:extLst>
              <a:ext uri="smNativeData">
                <pr:smNativeData xmlns:pr="smNativeData" xmlns="smNativeData" val="SMDATA_15_ZhjSaRMAAAAlAAAAZQAAAA0AAAAAkAAAAEgAAACQAAAASAAAAAAAAAAAAAAAAAAAAAEAAABQAAAALuI7MevFyD8AAAAAAADwv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oundRect">
            <a:avLst>
              <a:gd name="adj" fmla="val 9677"/>
            </a:avLst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Text 1"/>
          <p:cNvSpPr>
            <a:extLst>
              <a:ext uri="smNativeData">
                <pr:smNativeData xmlns:pr="smNativeData" xmlns="smNativeData" val="SMDATA_15_ZhjS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ABSTRACT</a:t>
            </a:r>
            <a:endParaRPr lang="en-us" sz="2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BAFAAC4NQAAYB4AABAAAAAmAAAACAAAAP//////////"/>
              </a:ext>
            </a:extLst>
          </p:cNvSpPr>
          <p:nvPr/>
        </p:nvSpPr>
        <p:spPr>
          <a:xfrm>
            <a:off x="502920" y="822960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The Student Attendance System (SAS) is a desktop-based application designed to efficiently manage student attendance records within an academic institution by replacing traditional manual methods with a digital solution.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The system enables faculty and administrators to mark attendance, view statistics, generate reports, and manage student information in a structured and secure manner using a relational database.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Developed using Core Java, Swing (GUI), JDBC, and SQLite (with MySQL compatibility), the application ensures data accuracy, reduces redundancy, and improves accessibility.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Features include role-based access control (Admin, Faculty, Student), SHA-256 password hashing, and a modern dark-themed UI for enhanced institutional productivity.</a:t>
            </a:r>
            <a:endParaRPr lang="en-us" sz="17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hjS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wX1c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AMBAABzAAAA6wYAAIs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" y="73025"/>
            <a:ext cx="96012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Shape 0"/>
          <p:cNvSpPr>
            <a:extLst>
              <a:ext uri="smNativeData">
                <pr:smNativeData xmlns:pr="smNativeData" xmlns="smNativeData" val="SMDATA_15_ZhjSaRMAAAAlAAAAZQAAAA0AAAAAkAAAAEgAAACQAAAASAAAAAAAAAAAAAAAAAAAAAEAAABQAAAALuI7MevFyD8AAAAAAADwv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oundRect">
            <a:avLst>
              <a:gd name="adj" fmla="val 9677"/>
            </a:avLst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Text 1"/>
          <p:cNvSpPr>
            <a:extLst>
              <a:ext uri="smNativeData">
                <pr:smNativeData xmlns:pr="smNativeData" xmlns="smNativeData" val="SMDATA_15_ZhjS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INTRODUCTION</a:t>
            </a:r>
            <a:endParaRPr lang="en-us" sz="2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BAFAAC4NQAAYB4AABAAAAAmAAAACAAAAP//////////"/>
              </a:ext>
            </a:extLst>
          </p:cNvSpPr>
          <p:nvPr/>
        </p:nvSpPr>
        <p:spPr>
          <a:xfrm>
            <a:off x="502920" y="822960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In many institutions, student attendance is still recorded using manual registers or spreadsheet tools, which leads to data duplication, difficulty in generating reports, and increased chances of errors.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The Student Attendance System (SAS) provides a centralized platform to store, retrieve, update, and delete attendance records in a structured manner.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This project focuses on developing a Java desktop application supporting three distinct user roles: Admin, Faculty, and Student, each with dedicated dashboards.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The application is portable and ships as a standalone executable JAR file, making it easy to run on any Java-enabled machine without complex installation.</a:t>
            </a:r>
            <a:endParaRPr lang="en-us" sz="17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hjS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wX1c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AMBAABzAAAA6wYAAIs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" y="73025"/>
            <a:ext cx="96012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Shape 0"/>
          <p:cNvSpPr>
            <a:extLst>
              <a:ext uri="smNativeData">
                <pr:smNativeData xmlns:pr="smNativeData" xmlns="smNativeData" val="SMDATA_15_ZhjSaRMAAAAlAAAAZQAAAA0AAAAAkAAAAEgAAACQAAAASAAAAAAAAAAAAAAAAAAAAAEAAABQAAAALuI7MevFyD8AAAAAAADwv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oundRect">
            <a:avLst>
              <a:gd name="adj" fmla="val 9677"/>
            </a:avLst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Text 1"/>
          <p:cNvSpPr>
            <a:extLst>
              <a:ext uri="smNativeData">
                <pr:smNativeData xmlns:pr="smNativeData" xmlns="smNativeData" val="SMDATA_15_ZhjS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SYSTEM ANALYSIS</a:t>
            </a:r>
            <a:endParaRPr lang="en-us" sz="2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PMEAAC4NQAAMwcAABAAAAAmAAAACAAAAP//////////"/>
              </a:ext>
            </a:extLst>
          </p:cNvSpPr>
          <p:nvPr/>
        </p:nvSpPr>
        <p:spPr>
          <a:xfrm>
            <a:off x="502920" y="804545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b="1" cap="none">
                <a:solidFill>
                  <a:srgbClr val="1C3557"/>
                </a:solidFill>
              </a:rPr>
              <a:t>Functional Requirements:</a:t>
            </a:r>
            <a:endParaRPr lang="en-us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G0HAAC4NQAAfR4AABAAAAAmAAAACAAAAP//////////"/>
              </a:ext>
            </a:extLst>
          </p:cNvSpPr>
          <p:nvPr/>
        </p:nvSpPr>
        <p:spPr>
          <a:xfrm>
            <a:off x="502920" y="1207135"/>
            <a:ext cx="8229600" cy="3749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Mark Attendance: Faculty marks each student PRESENT or ABSENT by subject and date; upsert logic prevents duplicates.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Edit Attendance: Modify existing records – change status from PRESENT to ABSENT or vice versa for any student, subject, and date.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Add / Manage Students: Admins can add student records (name, roll no., branch, year, section) and manage existing entries.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View Attendance Statistics: Subject-wise total classes, attended count, and percentage – visible to both students and faculty.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Generate Reports: Filterable by section, year, subject, and date range for administrative review.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Manage Announcements: Admins post announcements; all users can view them from their respective dashboards.</a:t>
            </a:r>
            <a:endParaRPr lang="en-us" sz="17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hjS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AMBAABzAAAA6wYAAIs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" y="73025"/>
            <a:ext cx="96012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Shape 0"/>
          <p:cNvSpPr>
            <a:extLst>
              <a:ext uri="smNativeData">
                <pr:smNativeData xmlns:pr="smNativeData" xmlns="smNativeData" val="SMDATA_15_ZhjSaRMAAAAlAAAAZQAAAA0AAAAAkAAAAEgAAACQAAAASAAAAAAAAAAAAAAAAAAAAAEAAABQAAAALuI7MevFyD8AAAAAAADwv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oundRect">
            <a:avLst>
              <a:gd name="adj" fmla="val 9677"/>
            </a:avLst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Text 1"/>
          <p:cNvSpPr>
            <a:extLst>
              <a:ext uri="smNativeData">
                <pr:smNativeData xmlns:pr="smNativeData" xmlns="smNativeData" val="SMDATA_15_ZhjS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SYSTEM ANALYSIS</a:t>
            </a:r>
            <a:endParaRPr lang="en-us" sz="2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BAFAAC4GgAAFgcAABAAAAAmAAAACAAAAP//////////"/>
              </a:ext>
            </a:extLst>
          </p:cNvSpPr>
          <p:nvPr/>
        </p:nvSpPr>
        <p:spPr>
          <a:xfrm>
            <a:off x="502920" y="822960"/>
            <a:ext cx="3840480" cy="3289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700" b="1" cap="none">
                <a:solidFill>
                  <a:srgbClr val="1C3557"/>
                </a:solidFill>
              </a:rPr>
              <a:t>Hardware Requirements</a:t>
            </a:r>
            <a:endParaRPr lang="en-us" sz="170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BYHAADYGwAAdhwAABAAAAAmAAAACAAAAP//////////"/>
              </a:ext>
            </a:extLst>
          </p:cNvSpPr>
          <p:nvPr/>
        </p:nvSpPr>
        <p:spPr>
          <a:xfrm>
            <a:off x="502920" y="1151890"/>
            <a:ext cx="4023360" cy="3474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Processor: Intel i3 or above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RAM: Minimum 4 GB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Storage: 20 GB free space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Input Devices: Keyboard, Mouse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Output Device: Monitor</a:t>
            </a:r>
            <a:endParaRPr lang="en-us" sz="170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BwAABAFAABwNQAAFgcAABAAAAAmAAAACAAAAP//////////"/>
              </a:ext>
            </a:extLst>
          </p:cNvSpPr>
          <p:nvPr/>
        </p:nvSpPr>
        <p:spPr>
          <a:xfrm>
            <a:off x="4663440" y="822960"/>
            <a:ext cx="4023360" cy="3289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700" b="1" cap="none">
                <a:solidFill>
                  <a:srgbClr val="1C3557"/>
                </a:solidFill>
              </a:rPr>
              <a:t>Software Requirements</a:t>
            </a:r>
            <a:endParaRPr lang="en-us" sz="1700" cap="none"/>
          </a:p>
        </p:txBody>
      </p:sp>
      <p:sp>
        <p:nvSpPr>
          <p:cNvPr id="8" name="Text 5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sBwAABYHAAAANgAAdhwAABAAAAAmAAAACAAAAP//////////"/>
              </a:ext>
            </a:extLst>
          </p:cNvSpPr>
          <p:nvPr/>
        </p:nvSpPr>
        <p:spPr>
          <a:xfrm>
            <a:off x="4663440" y="1151890"/>
            <a:ext cx="4114800" cy="3474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OS: Windows 10/11, macOS, or Linux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Language: Java (JDK 11 or above)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IDE: VS Code or IntelliJ IDEA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Database: SQLite (bundled) or MySQL 8.0+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Connectivity: JDBC with sqlite-jdbc / mysql-connector-j JAR</a:t>
            </a:r>
            <a:endParaRPr lang="en-us" sz="17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hjS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wX1c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AMBAABzAAAA6wYAAIs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" y="73025"/>
            <a:ext cx="96012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Shape 0"/>
          <p:cNvSpPr>
            <a:extLst>
              <a:ext uri="smNativeData">
                <pr:smNativeData xmlns:pr="smNativeData" xmlns="smNativeData" val="SMDATA_15_ZhjSaRMAAAAlAAAAZQAAAA0AAAAAkAAAAEgAAACQAAAASAAAAAAAAAAAAAAAAAAAAAEAAABQAAAALuI7MevFyD8AAAAAAADwv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oundRect">
            <a:avLst>
              <a:gd name="adj" fmla="val 9677"/>
            </a:avLst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Text 1"/>
          <p:cNvSpPr>
            <a:extLst>
              <a:ext uri="smNativeData">
                <pr:smNativeData xmlns:pr="smNativeData" xmlns="smNativeData" val="SMDATA_15_ZhjS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DATABASE DESIGN</a:t>
            </a:r>
            <a:endParaRPr lang="en-us" sz="2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BAFAAC4NQAAYB4AABAAAAAmAAAACAAAAP//////////"/>
              </a:ext>
            </a:extLst>
          </p:cNvSpPr>
          <p:nvPr/>
        </p:nvSpPr>
        <p:spPr>
          <a:xfrm>
            <a:off x="502920" y="822960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The system uses a relational database to store student and attendance information in a structured manner.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The database consists of eight main tables: users, branches, faculty, subjects, students, attendance, marks, and announcements.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The users table stores login credentials and roles (Admin / Faculty / Student) for all system users.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The students table stores student profiles linked to users and branches tables via foreign keys.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The attendance table records daily attendance per student per subject with upsert-safe unique index.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Primary keys, foreign keys, and unique constraints ensure data integrity and prevent duplicate records.</a:t>
            </a:r>
            <a:endParaRPr lang="en-us" sz="17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hjS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AMBAABzAAAA6wYAAIs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" y="73025"/>
            <a:ext cx="96012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Shape 0"/>
          <p:cNvSpPr>
            <a:extLst>
              <a:ext uri="smNativeData">
                <pr:smNativeData xmlns:pr="smNativeData" xmlns="smNativeData" val="SMDATA_15_ZhjSaRMAAAAlAAAAZQAAAA0AAAAAkAAAAEgAAACQAAAASAAAAAAAAAAAAAAAAAAAAAEAAABQAAAALuI7MevFyD8AAAAAAADwv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c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oundRect">
            <a:avLst>
              <a:gd name="adj" fmla="val 9677"/>
            </a:avLst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Text 1"/>
          <p:cNvSpPr>
            <a:extLst>
              <a:ext uri="smNativeData">
                <pr:smNativeData xmlns:pr="smNativeData" xmlns="smNativeData" val="SMDATA_15_ZhjS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DATABASE DESIGN</a:t>
            </a:r>
            <a:endParaRPr lang="en-us" sz="2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jfs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BAFAAC4NQAA+gYAABAAAAAmAAAACAAAAP//////////"/>
              </a:ext>
            </a:extLst>
          </p:cNvSpPr>
          <p:nvPr/>
        </p:nvSpPr>
        <p:spPr>
          <a:xfrm>
            <a:off x="502920" y="822960"/>
            <a:ext cx="8229600" cy="311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700" b="1" cap="none">
                <a:solidFill>
                  <a:srgbClr val="1C3557"/>
                </a:solidFill>
              </a:rPr>
              <a:t>Users Table:</a:t>
            </a:r>
            <a:endParaRPr lang="en-us" sz="170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N0GAAC4NQAAcAgAABAAAAAmAAAACAAAAP//////////"/>
              </a:ext>
            </a:extLst>
          </p:cNvSpPr>
          <p:nvPr/>
        </p:nvSpPr>
        <p:spPr>
          <a:xfrm>
            <a:off x="502920" y="1115695"/>
            <a:ext cx="82296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555555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Stores login credentials and role information for all system users.</a:t>
            </a:r>
            <a:endParaRPr lang="en-us" sz="1400" cap="none"/>
          </a:p>
        </p:txBody>
      </p:sp>
      <p:graphicFrame>
        <p:nvGraphicFramePr>
          <p:cNvPr id="7" name=""/>
          <p:cNvGraphicFramePr>
            <a:graphicFrameLocks noGrp="1"/>
          </p:cNvGraphicFramePr>
          <p:nvPr/>
        </p:nvGraphicFramePr>
        <p:xfrm>
          <a:off x="502920" y="1417320"/>
          <a:ext cx="8138160" cy="29425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45920"/>
                <a:gridCol w="1280160"/>
                <a:gridCol w="2011680"/>
                <a:gridCol w="3200400"/>
              </a:tblGrid>
              <a:tr h="42037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400" b="1" cap="none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400" cap="none"/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C3557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400" b="1" cap="none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400" cap="none"/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C3557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400" b="1" cap="none">
                          <a:solidFill>
                            <a:srgbClr val="FFFFFF"/>
                          </a:solidFill>
                        </a:rPr>
                        <a:t>Constraint</a:t>
                      </a:r>
                      <a:endParaRPr lang="en-us" sz="1400" cap="none"/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C3557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400" b="1" cap="non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400" cap="none"/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C3557"/>
                    </a:solidFill>
                  </a:tcPr>
                </a:tc>
                <a:extLst>
                  <a:ext uri="smNativeData">
                    <pr:rowheight xmlns="" xmlns:pr="smNativeData" dt="1775376486" type="min" val="420370"/>
                  </a:ext>
                </a:extLst>
              </a:tr>
              <a:tr h="42037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user_id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INTEGER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PK, AUTOINCREMENT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Unique user identifier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20370"/>
                  </a:ext>
                </a:extLst>
              </a:tr>
              <a:tr h="42037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username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TEXT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NOT NULL, UNIQUE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Login username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20370"/>
                  </a:ext>
                </a:extLst>
              </a:tr>
              <a:tr h="42037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password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TEXT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NOT NULL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SHA-256 hashed password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20370"/>
                  </a:ext>
                </a:extLst>
              </a:tr>
              <a:tr h="42037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role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TEXT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NOT NULL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ADMIN / FACULTY / STUDENT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20370"/>
                  </a:ext>
                </a:extLst>
              </a:tr>
              <a:tr h="42037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email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TEXT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—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Contact email address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20370"/>
                  </a:ext>
                </a:extLst>
              </a:tr>
              <a:tr h="42037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phone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TEXT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—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Contact phone number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2037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hjS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wX1c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AMBAABzAAAA6wYAAIs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" y="73025"/>
            <a:ext cx="96012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Shape 0"/>
          <p:cNvSpPr>
            <a:extLst>
              <a:ext uri="smNativeData">
                <pr:smNativeData xmlns:pr="smNativeData" xmlns="smNativeData" val="SMDATA_15_ZhjSaRMAAAAlAAAAZQAAAA0AAAAAkAAAAEgAAACQAAAASAAAAAAAAAAAAAAAAAAAAAEAAABQAAAALuI7MevFyD8AAAAAAADwv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T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oundRect">
            <a:avLst>
              <a:gd name="adj" fmla="val 9677"/>
            </a:avLst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Text 1"/>
          <p:cNvSpPr>
            <a:extLst>
              <a:ext uri="smNativeData">
                <pr:smNativeData xmlns:pr="smNativeData" xmlns="smNativeData" val="SMDATA_15_ZhjS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DATABASE DESIGN</a:t>
            </a:r>
            <a:endParaRPr lang="en-us" sz="2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BAFAAC4NQAA+gYAABAAAAAmAAAACAAAAP//////////"/>
              </a:ext>
            </a:extLst>
          </p:cNvSpPr>
          <p:nvPr/>
        </p:nvSpPr>
        <p:spPr>
          <a:xfrm>
            <a:off x="502920" y="822960"/>
            <a:ext cx="8229600" cy="311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700" b="1" cap="none">
                <a:solidFill>
                  <a:srgbClr val="1C3557"/>
                </a:solidFill>
              </a:rPr>
              <a:t>Students Table:</a:t>
            </a:r>
            <a:endParaRPr lang="en-us" sz="170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N0GAAC4NQAAcAgAABAAAAAmAAAACAAAAP//////////"/>
              </a:ext>
            </a:extLst>
          </p:cNvSpPr>
          <p:nvPr/>
        </p:nvSpPr>
        <p:spPr>
          <a:xfrm>
            <a:off x="502920" y="1115695"/>
            <a:ext cx="82296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555555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Stores student profiles linked to user accounts and branches.</a:t>
            </a:r>
            <a:endParaRPr lang="en-us" sz="1400" cap="none"/>
          </a:p>
        </p:txBody>
      </p:sp>
      <p:graphicFrame>
        <p:nvGraphicFramePr>
          <p:cNvPr id="7" name=""/>
          <p:cNvGraphicFramePr>
            <a:graphicFrameLocks noGrp="1"/>
          </p:cNvGraphicFramePr>
          <p:nvPr/>
        </p:nvGraphicFramePr>
        <p:xfrm>
          <a:off x="502920" y="1417320"/>
          <a:ext cx="8138160" cy="3220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45920"/>
                <a:gridCol w="1280160"/>
                <a:gridCol w="2011680"/>
                <a:gridCol w="3200400"/>
              </a:tblGrid>
              <a:tr h="40259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400" b="1" cap="none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400" cap="none"/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C3557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400" b="1" cap="none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400" cap="none"/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C3557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400" b="1" cap="none">
                          <a:solidFill>
                            <a:srgbClr val="FFFFFF"/>
                          </a:solidFill>
                        </a:rPr>
                        <a:t>Constraint</a:t>
                      </a:r>
                      <a:endParaRPr lang="en-us" sz="1400" cap="none"/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C3557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400" b="1" cap="non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400" cap="none"/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C3557"/>
                    </a:solidFill>
                  </a:tcPr>
                </a:tc>
                <a:extLst>
                  <a:ext uri="smNativeData">
                    <pr:rowheight xmlns="" xmlns:pr="smNativeData" dt="1775376486" type="min" val="402590"/>
                  </a:ext>
                </a:extLst>
              </a:tr>
              <a:tr h="40259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student_id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INTEGER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PK, AUTOINCREMENT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Unique student identifier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02590"/>
                  </a:ext>
                </a:extLst>
              </a:tr>
              <a:tr h="40259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user_id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INTEGER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FK → users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Linked user account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02590"/>
                  </a:ext>
                </a:extLst>
              </a:tr>
              <a:tr h="40259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student_name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TEXT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NOT NULL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Full name of student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02590"/>
                  </a:ext>
                </a:extLst>
              </a:tr>
              <a:tr h="40259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roll_no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TEXT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NOT NULL, UNIQUE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Unique roll number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02590"/>
                  </a:ext>
                </a:extLst>
              </a:tr>
              <a:tr h="40259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branch_id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INTEGER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FK → branches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Department / branch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02590"/>
                  </a:ext>
                </a:extLst>
              </a:tr>
              <a:tr h="40259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year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INTEGER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—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Academic year (1–4)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02590"/>
                  </a:ext>
                </a:extLst>
              </a:tr>
              <a:tr h="40259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section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TEXT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—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Class section (A, B, C…)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0259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hjS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wX1c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AMBAABzAAAA6wYAAIs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" y="73025"/>
            <a:ext cx="96012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Shape 0"/>
          <p:cNvSpPr>
            <a:extLst>
              <a:ext uri="smNativeData">
                <pr:smNativeData xmlns:pr="smNativeData" xmlns="smNativeData" val="SMDATA_15_ZhjSaRMAAAAlAAAAZQAAAA0AAAAAkAAAAEgAAACQAAAASAAAAAAAAAAAAAAAAAAAAAEAAABQAAAALuI7MevFyD8AAAAAAADwv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oundRect">
            <a:avLst>
              <a:gd name="adj" fmla="val 9677"/>
            </a:avLst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Text 1"/>
          <p:cNvSpPr>
            <a:extLst>
              <a:ext uri="smNativeData">
                <pr:smNativeData xmlns:pr="smNativeData" xmlns="smNativeData" val="SMDATA_15_ZhjS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DATABASE DESIGN</a:t>
            </a:r>
            <a:endParaRPr lang="en-us" sz="2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BAFAAC4NQAA+gYAABAAAAAmAAAACAAAAP//////////"/>
              </a:ext>
            </a:extLst>
          </p:cNvSpPr>
          <p:nvPr/>
        </p:nvSpPr>
        <p:spPr>
          <a:xfrm>
            <a:off x="502920" y="822960"/>
            <a:ext cx="8229600" cy="311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700" b="1" cap="none">
                <a:solidFill>
                  <a:srgbClr val="1C3557"/>
                </a:solidFill>
              </a:rPr>
              <a:t>Attendance Table:</a:t>
            </a:r>
            <a:endParaRPr lang="en-us" sz="170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N0GAAC4NQAAcAgAABAAAAAmAAAACAAAAP//////////"/>
              </a:ext>
            </a:extLst>
          </p:cNvSpPr>
          <p:nvPr/>
        </p:nvSpPr>
        <p:spPr>
          <a:xfrm>
            <a:off x="502920" y="1115695"/>
            <a:ext cx="8229600" cy="2559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555555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Records daily attendance per student per subject with upsert-safe unique index.</a:t>
            </a:r>
            <a:endParaRPr lang="en-us" sz="1400" cap="none"/>
          </a:p>
        </p:txBody>
      </p:sp>
      <p:graphicFrame>
        <p:nvGraphicFramePr>
          <p:cNvPr id="7" name=""/>
          <p:cNvGraphicFramePr>
            <a:graphicFrameLocks noGrp="1"/>
          </p:cNvGraphicFramePr>
          <p:nvPr/>
        </p:nvGraphicFramePr>
        <p:xfrm>
          <a:off x="502920" y="1417320"/>
          <a:ext cx="8138160" cy="2743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45920"/>
                <a:gridCol w="1280160"/>
                <a:gridCol w="2011680"/>
                <a:gridCol w="3200400"/>
              </a:tblGrid>
              <a:tr h="457200"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400" b="1" cap="none">
                          <a:solidFill>
                            <a:srgbClr val="FFFFFF"/>
                          </a:solidFill>
                        </a:rPr>
                        <a:t>Field Name</a:t>
                      </a:r>
                      <a:endParaRPr lang="en-us" sz="1400" cap="none"/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C3557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400" b="1" cap="none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400" cap="none"/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C3557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400" b="1" cap="none">
                          <a:solidFill>
                            <a:srgbClr val="FFFFFF"/>
                          </a:solidFill>
                        </a:rPr>
                        <a:t>Constraint</a:t>
                      </a:r>
                      <a:endParaRPr lang="en-us" sz="1400" cap="none"/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C3557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ctr">
                        <a:buNone/>
                        <a:defRPr lang="en-us"/>
                      </a:pPr>
                      <a:r>
                        <a:rPr lang="en-us" sz="1400" b="1" cap="non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400" cap="none"/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C3557"/>
                    </a:solidFill>
                  </a:tcPr>
                </a:tc>
                <a:extLst>
                  <a:ext uri="smNativeData">
                    <pr:rowheight xmlns="" xmlns:pr="smNativeData" dt="1775376486" type="min" val="457200"/>
                  </a:ext>
                </a:extLst>
              </a:tr>
              <a:tr h="45720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attendance_id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INTEGER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PK, AUTOINCREMENT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Unique record identifier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57200"/>
                  </a:ext>
                </a:extLst>
              </a:tr>
              <a:tr h="45720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student_roll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TEXT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FK → students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Student roll number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57200"/>
                  </a:ext>
                </a:extLst>
              </a:tr>
              <a:tr h="45720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subject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TEXT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—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Subject name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57200"/>
                  </a:ext>
                </a:extLst>
              </a:tr>
              <a:tr h="45720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date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DATE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—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Date of attendance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57200"/>
                  </a:ext>
                </a:extLst>
              </a:tr>
              <a:tr h="457200"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status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TEXT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—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buNone/>
                        <a:defRPr lang="en-us"/>
                      </a:pPr>
                      <a:r>
                        <a:rPr lang="en-us" sz="1300" cap="none">
                          <a:solidFill>
                            <a:srgbClr val="1A1A1A"/>
                          </a:solidFill>
                          <a:latin typeface="Garamond" pitchFamily="1" charset="0"/>
                          <a:ea typeface="Garamond" pitchFamily="1" charset="0"/>
                          <a:cs typeface="Garamond" pitchFamily="1" charset="0"/>
                        </a:rPr>
                        <a:t>PRESENT or ABSENT</a:t>
                      </a:r>
                      <a:endParaRPr lang="en-us" sz="1300" cap="none">
                        <a:latin typeface="Garamond" pitchFamily="1" charset="0"/>
                        <a:ea typeface="Garamond" pitchFamily="1" charset="0"/>
                        <a:cs typeface="Garamond" pitchFamily="1" charset="0"/>
                      </a:endParaRPr>
                    </a:p>
                  </a:txBody>
                  <a:tcPr marL="91440" marR="91440" marT="45720" marB="45720" vert="horz">
                    <a:lnL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5376486" type="min" val="4572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hjS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wX1c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AMBAABzAAAA6wYAAIs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" y="73025"/>
            <a:ext cx="96012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Shape 0"/>
          <p:cNvSpPr>
            <a:extLst>
              <a:ext uri="smNativeData">
                <pr:smNativeData xmlns:pr="smNativeData" xmlns="smNativeData" val="SMDATA_15_ZhjSaRMAAAAlAAAAZQAAAA0AAAAAkAAAAEgAAACQAAAASAAAAAAAAAAAAAAAAAAAAAEAAABQAAAALuI7MevFyD8AAAAAAADwv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oundRect">
            <a:avLst>
              <a:gd name="adj" fmla="val 9677"/>
            </a:avLst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Text 1"/>
          <p:cNvSpPr>
            <a:extLst>
              <a:ext uri="smNativeData">
                <pr:smNativeData xmlns:pr="smNativeData" xmlns="smNativeData" val="SMDATA_15_ZhjS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SYSTEM DESIGN</a:t>
            </a:r>
            <a:endParaRPr lang="en-us" sz="2200" cap="none"/>
          </a:p>
        </p:txBody>
      </p:sp>
      <p:sp>
        <p:nvSpPr>
          <p:cNvPr id="5" name="Shape 2"/>
          <p:cNvSpPr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EAAAAAAAAAHDVXAP///wgAAAAAAAAAAAAAAAAAAAAAAAAAAAAAAAAAAAAAeAAAAAEAAABAAAAAAAAAAAAAAABaAAAAAAAAAAAAAAAAAAAAAAAAAAAAAAAAAAAAAAAAAAAAAAAAAAAAAAAAAAAAAAAAAAAAAAAAAAAAAAAAAAAAAAAAAAAAAAAAAAAAFAAAADwAAAABAAAAAAAAABw1Vw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HDVXAP///wEAAAAAAAAAAAAAAAAAAAAAAAAAAAAAAAAAAAAAAAAAABw1VwB/f38A5+bmA8zMzADAwP8Af39/AAAAAAAAAAAAAAAAAAAAAAAAAAAAIQAAABgAAAAUAAAAGAMAAFgFAABYIAAA+AoAABAAAAAmAAAACAAAAP//////////"/>
              </a:ext>
            </a:extLst>
          </p:cNvSpPr>
          <p:nvPr/>
        </p:nvSpPr>
        <p:spPr>
          <a:xfrm>
            <a:off x="502920" y="868680"/>
            <a:ext cx="4754880" cy="914400"/>
          </a:xfrm>
          <a:prstGeom prst="rect">
            <a:avLst/>
          </a:prstGeom>
          <a:solidFill>
            <a:srgbClr val="1C3557"/>
          </a:solidFill>
          <a:ln w="12700" cap="flat" cmpd="sng" algn="ctr">
            <a:solidFill>
              <a:srgbClr val="1C3557"/>
            </a:solidFill>
            <a:prstDash val="solid"/>
            <a:headEnd type="none"/>
            <a:tailEnd type="none"/>
          </a:ln>
          <a:effectLst/>
        </p:spPr>
      </p:sp>
      <p:sp>
        <p:nvSpPr>
          <p:cNvPr id="6" name="Text 3"/>
          <p:cNvSpPr>
            <a:extLst>
              <a:ext uri="smNativeData">
                <pr:smNativeData xmlns:pr="smNativeData" xmlns="smNativeData" val="SMDATA_15_ZhjSaRMAAAAlAAAAZAAAAA0AAAAAAAAAAAAAAAAAAAAAA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FgFAABYIAAAtQcAABAAAAAmAAAACAAAAP//////////"/>
              </a:ext>
            </a:extLst>
          </p:cNvSpPr>
          <p:nvPr/>
        </p:nvSpPr>
        <p:spPr>
          <a:xfrm>
            <a:off x="502920" y="868680"/>
            <a:ext cx="4754880" cy="384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b"/>
          <a:lstStyle/>
          <a:p>
            <a:pPr marL="0" indent="0" algn="ctr">
              <a:buNone/>
            </a:pPr>
            <a:r>
              <a:rPr lang="en-us" sz="1500" b="1" cap="none">
                <a:solidFill>
                  <a:srgbClr val="FFFFFF"/>
                </a:solidFill>
              </a:rPr>
              <a:t>Presentation Layer (UI)</a:t>
            </a:r>
            <a:endParaRPr lang="en-us" sz="150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ZhjS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LUHAABYIAAAEgoAABAAAAAmAAAACAAAAP//////////"/>
              </a:ext>
            </a:extLst>
          </p:cNvSpPr>
          <p:nvPr/>
        </p:nvSpPr>
        <p:spPr>
          <a:xfrm>
            <a:off x="502920" y="1252855"/>
            <a:ext cx="4754880" cy="384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ctr">
              <a:buNone/>
            </a:pPr>
            <a:r>
              <a:rPr lang="en-us" sz="1200" cap="none">
                <a:solidFill>
                  <a:srgbClr val="EEF4FF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Java Swing • Role-specific Dashboards • Dark Theme</a:t>
            </a:r>
            <a:endParaRPr lang="en-us" sz="1200" cap="none"/>
          </a:p>
        </p:txBody>
      </p:sp>
      <p:sp>
        <p:nvSpPr>
          <p:cNvPr id="8" name="Shape 5"/>
          <p:cNvSpPr>
            <a:extLst>
              <a:ext uri="smNativeData">
                <pr:smNativeData xmlns:pr="smNativeData" xmlns="smNativeData" val="SMDATA_15_ZhjSaR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IiIiA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IiIiAB/f38A5+bmA8zMzADAwP8Af39/AAAAAAAAAAAAAAAAAAAAAAAAAAAAIQAAABgAAAAUAAAAUBAAAPgKAABQEAAANQwAABAAAAAmAAAACAAAAP//////////"/>
              </a:ext>
            </a:extLst>
          </p:cNvSpPr>
          <p:nvPr/>
        </p:nvSpPr>
        <p:spPr>
          <a:xfrm>
            <a:off x="2651760" y="1783080"/>
            <a:ext cx="0" cy="201295"/>
          </a:xfrm>
          <a:prstGeom prst="line">
            <a:avLst/>
          </a:prstGeom>
          <a:noFill/>
          <a:ln w="19050" cap="flat" cmpd="sng" algn="ctr">
            <a:solidFill>
              <a:srgbClr val="888888"/>
            </a:solidFill>
            <a:prstDash val="solid"/>
            <a:headEnd type="none"/>
            <a:tailEnd type="none"/>
          </a:ln>
          <a:effectLst/>
        </p:spPr>
      </p:sp>
      <p:sp>
        <p:nvSpPr>
          <p:cNvPr id="9" name="Shape 6"/>
          <p:cNvSpPr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GAMAADUMAABYIAAA1REAABAAAAAmAAAACAAAAP//////////"/>
              </a:ext>
            </a:extLst>
          </p:cNvSpPr>
          <p:nvPr/>
        </p:nvSpPr>
        <p:spPr>
          <a:xfrm>
            <a:off x="502920" y="1984375"/>
            <a:ext cx="4754880" cy="914400"/>
          </a:xfrm>
          <a:prstGeom prst="rect">
            <a:avLst/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10" name="Text 7"/>
          <p:cNvSpPr>
            <a:extLst>
              <a:ext uri="smNativeData">
                <pr:smNativeData xmlns:pr="smNativeData" xmlns="smNativeData" val="SMDATA_15_ZhjSaRMAAAAlAAAAZAAAAA0AAAAAAAAAAAAAAAAAAAAAA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DUMAABYIAAAkg4AABAAAAAmAAAACAAAAP//////////"/>
              </a:ext>
            </a:extLst>
          </p:cNvSpPr>
          <p:nvPr/>
        </p:nvSpPr>
        <p:spPr>
          <a:xfrm>
            <a:off x="502920" y="1984375"/>
            <a:ext cx="4754880" cy="384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b"/>
          <a:lstStyle/>
          <a:p>
            <a:pPr marL="0" indent="0" algn="ctr">
              <a:buNone/>
            </a:pPr>
            <a:r>
              <a:rPr lang="en-us" sz="1500" b="1" cap="none">
                <a:solidFill>
                  <a:srgbClr val="FFFFFF"/>
                </a:solidFill>
              </a:rPr>
              <a:t>Application Layer (Business Logic)</a:t>
            </a:r>
            <a:endParaRPr lang="en-us" sz="1500" cap="none"/>
          </a:p>
        </p:txBody>
      </p:sp>
      <p:sp>
        <p:nvSpPr>
          <p:cNvPr id="11" name="Text 8"/>
          <p:cNvSpPr>
            <a:extLst>
              <a:ext uri="smNativeData">
                <pr:smNativeData xmlns:pr="smNativeData" xmlns="smNativeData" val="SMDATA_15_ZhjS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JIOAABYIAAA7hAAABAAAAAmAAAACAAAAP//////////"/>
              </a:ext>
            </a:extLst>
          </p:cNvSpPr>
          <p:nvPr/>
        </p:nvSpPr>
        <p:spPr>
          <a:xfrm>
            <a:off x="502920" y="2368550"/>
            <a:ext cx="4754880" cy="3835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ctr">
              <a:buNone/>
            </a:pPr>
            <a:r>
              <a:rPr lang="en-us" sz="1200" cap="none">
                <a:solidFill>
                  <a:srgbClr val="EEF4FF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Event Listeners • DAO Pattern • Operations</a:t>
            </a:r>
            <a:endParaRPr lang="en-us" sz="1200" cap="none"/>
          </a:p>
        </p:txBody>
      </p:sp>
      <p:sp>
        <p:nvSpPr>
          <p:cNvPr id="12" name="Shape 9"/>
          <p:cNvSpPr>
            <a:extLst>
              <a:ext uri="smNativeData">
                <pr:smNativeData xmlns:pr="smNativeData" xmlns="smNativeData" val="SMDATA_15_ZhjSaRMAAAAlAAAACg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IiIiAAe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dXC3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IiIiAB/f38A5+bmA8zMzADAwP8Af39/AAAAAAAAAAAAAAAAAAAAAAAAAAAAIQAAABgAAAAUAAAAUBAAANURAABQEAAAEhMAABAAAAAmAAAACAAAAP//////////"/>
              </a:ext>
            </a:extLst>
          </p:cNvSpPr>
          <p:nvPr/>
        </p:nvSpPr>
        <p:spPr>
          <a:xfrm>
            <a:off x="2651760" y="2898775"/>
            <a:ext cx="0" cy="201295"/>
          </a:xfrm>
          <a:prstGeom prst="line">
            <a:avLst/>
          </a:prstGeom>
          <a:noFill/>
          <a:ln w="19050" cap="flat" cmpd="sng" algn="ctr">
            <a:solidFill>
              <a:srgbClr val="888888"/>
            </a:solidFill>
            <a:prstDash val="solid"/>
            <a:headEnd type="none"/>
            <a:tailEnd type="none"/>
          </a:ln>
          <a:effectLst/>
        </p:spPr>
      </p:sp>
      <p:sp>
        <p:nvSpPr>
          <p:cNvPr id="13" name="Shape 10"/>
          <p:cNvSpPr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EAAAAAAAAALn0yAP///wgAAAAAAAAAAAAAAAAAAAAAAAAAAAAAAAAAAAAAeAAAAAEAAABAAAAAAAAAAAAAAABaAAAAAAAAAAAAAAAAAAAAAAAAAAAAAAAAAAAAAAAAAAAAAAAAAAAAAAAAAAAAAAAAAAAAAAAAAAAAAAAAAAAAAAAAAAAAAAAAAAAAFAAAADwAAAABAAAAAAAAAC59M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Ln0yAP///wEAAAAAAAAAAAAAAAAAAAAAAAAAAAAAAAAAAAAAAAAAAC59MgB/f38A5+bmA8zMzADAwP8Af39/AAAAAAAAAAAAAAAAAAAAAAAAAAAAIQAAABgAAAAUAAAAGAMAABITAABYIAAAshgAABAAAAAmAAAACAAAAP//////////"/>
              </a:ext>
            </a:extLst>
          </p:cNvSpPr>
          <p:nvPr/>
        </p:nvSpPr>
        <p:spPr>
          <a:xfrm>
            <a:off x="502920" y="3100070"/>
            <a:ext cx="4754880" cy="914400"/>
          </a:xfrm>
          <a:prstGeom prst="rect">
            <a:avLst/>
          </a:prstGeom>
          <a:solidFill>
            <a:srgbClr val="2E7D32"/>
          </a:solidFill>
          <a:ln w="12700" cap="flat" cmpd="sng" algn="ctr">
            <a:solidFill>
              <a:srgbClr val="2E7D32"/>
            </a:solidFill>
            <a:prstDash val="solid"/>
            <a:headEnd type="none"/>
            <a:tailEnd type="none"/>
          </a:ln>
          <a:effectLst/>
        </p:spPr>
      </p:sp>
      <p:sp>
        <p:nvSpPr>
          <p:cNvPr id="14" name="Text 11"/>
          <p:cNvSpPr>
            <a:extLst>
              <a:ext uri="smNativeData">
                <pr:smNativeData xmlns:pr="smNativeData" xmlns="smNativeData" val="SMDATA_15_ZhjSaRMAAAAlAAAAZAAAAA0AAAAAAAAAAAAAAAAAAAAAA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BITAABYIAAAbhUAABAAAAAmAAAACAAAAP//////////"/>
              </a:ext>
            </a:extLst>
          </p:cNvSpPr>
          <p:nvPr/>
        </p:nvSpPr>
        <p:spPr>
          <a:xfrm>
            <a:off x="502920" y="3100070"/>
            <a:ext cx="4754880" cy="3835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b"/>
          <a:lstStyle/>
          <a:p>
            <a:pPr marL="0" indent="0" algn="ctr">
              <a:buNone/>
            </a:pPr>
            <a:r>
              <a:rPr lang="en-us" sz="1500" b="1" cap="none">
                <a:solidFill>
                  <a:srgbClr val="FFFFFF"/>
                </a:solidFill>
              </a:rPr>
              <a:t>Data Layer (Database)</a:t>
            </a:r>
            <a:endParaRPr lang="en-us" sz="1500" cap="none"/>
          </a:p>
        </p:txBody>
      </p:sp>
      <p:sp>
        <p:nvSpPr>
          <p:cNvPr id="15" name="Text 12"/>
          <p:cNvSpPr>
            <a:extLst>
              <a:ext uri="smNativeData">
                <pr:smNativeData xmlns:pr="smNativeData" xmlns="smNativeData" val="SMDATA_15_ZhjS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G4VAABYIAAAyxcAABAAAAAmAAAACAAAAP//////////"/>
              </a:ext>
            </a:extLst>
          </p:cNvSpPr>
          <p:nvPr/>
        </p:nvSpPr>
        <p:spPr>
          <a:xfrm>
            <a:off x="502920" y="3483610"/>
            <a:ext cx="4754880" cy="384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0" indent="0" algn="ctr">
              <a:buNone/>
            </a:pPr>
            <a:r>
              <a:rPr lang="en-us" sz="1200" cap="none">
                <a:solidFill>
                  <a:srgbClr val="EEF4FF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SQLite / MySQL • JDBC • DBConnection Utility</a:t>
            </a:r>
            <a:endParaRPr lang="en-us" sz="1200" cap="none"/>
          </a:p>
        </p:txBody>
      </p:sp>
      <p:sp>
        <p:nvSpPr>
          <p:cNvPr id="16" name="Text 13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CIAABAFAAAANgAA+gYAABAAAAAmAAAACAAAAP//////////"/>
              </a:ext>
            </a:extLst>
          </p:cNvSpPr>
          <p:nvPr/>
        </p:nvSpPr>
        <p:spPr>
          <a:xfrm>
            <a:off x="5577840" y="822960"/>
            <a:ext cx="3200400" cy="311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600" b="1" cap="none">
                <a:solidFill>
                  <a:srgbClr val="1C3557"/>
                </a:solidFill>
              </a:rPr>
              <a:t>Modules:</a:t>
            </a:r>
            <a:endParaRPr lang="en-us" sz="1600" cap="none"/>
          </a:p>
        </p:txBody>
      </p:sp>
      <p:sp>
        <p:nvSpPr>
          <p:cNvPr id="17" name="Text 14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UCIAABYHAABINgAAlh0AABAAAAAmAAAACAAAAP//////////"/>
              </a:ext>
            </a:extLst>
          </p:cNvSpPr>
          <p:nvPr/>
        </p:nvSpPr>
        <p:spPr>
          <a:xfrm>
            <a:off x="5577840" y="1151890"/>
            <a:ext cx="3246120" cy="3657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Authentication Module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Attendance Management Module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Student Management Module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Reports Module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Announcements Module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Database Connectivity Module</a:t>
            </a:r>
            <a:endParaRPr lang="en-us" sz="17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hjS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9fXx6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AMBAABzAAAA6wYAAIs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" y="73025"/>
            <a:ext cx="96012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Shape 0"/>
          <p:cNvSpPr>
            <a:extLst>
              <a:ext uri="smNativeData">
                <pr:smNativeData xmlns:pr="smNativeData" xmlns="smNativeData" val="SMDATA_15_ZhjSaRMAAAAlAAAAZQAAAA0AAAAAkAAAAEgAAACQAAAASAAAAAAAAAAAAAAAAAAAAAEAAABQAAAALuI7MevFyD8AAAAAAADwv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9jb/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oundRect">
            <a:avLst>
              <a:gd name="adj" fmla="val 9677"/>
            </a:avLst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Text 1"/>
          <p:cNvSpPr>
            <a:extLst>
              <a:ext uri="smNativeData">
                <pr:smNativeData xmlns:pr="smNativeData" xmlns="smNativeData" val="SMDATA_15_ZhjS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RNZ2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SYSTEM IMPLEMENTATION</a:t>
            </a:r>
            <a:endParaRPr lang="en-us" sz="2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F0rw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AIAABAFAAAgHAAA+gYAABAAAAAmAAAACAAAAP//////////"/>
              </a:ext>
            </a:extLst>
          </p:cNvSpPr>
          <p:nvPr/>
        </p:nvSpPr>
        <p:spPr>
          <a:xfrm>
            <a:off x="365760" y="822960"/>
            <a:ext cx="4206240" cy="311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600" b="1" u="sng" cap="none">
                <a:solidFill>
                  <a:srgbClr val="1C3557"/>
                </a:solidFill>
              </a:rPr>
              <a:t>Login Screen:</a:t>
            </a:r>
            <a:endParaRPr lang="en-us" sz="160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M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AIAADMHAAAgHAAA8w0AABAAAAAmAAAACAAAAP//////////"/>
              </a:ext>
            </a:extLst>
          </p:cNvSpPr>
          <p:nvPr/>
        </p:nvSpPr>
        <p:spPr>
          <a:xfrm>
            <a:off x="365760" y="1170305"/>
            <a:ext cx="420624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Allows users to enter username and password. Credentials are validated against the database using SHA-256 hashed password comparison and the user is routed to their role-based dashboard.</a:t>
            </a:r>
            <a:endParaRPr lang="en-us" sz="1400" cap="none"/>
          </a:p>
        </p:txBody>
      </p:sp>
      <p:sp>
        <p:nvSpPr>
          <p:cNvPr id="7" name="Shape 4"/>
          <p:cNvSpPr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EAAAAAAAAA8PT4AP///wgAAAAAAAAAAAAAAAAAAAAAAAAAAAAAAAAAAAAAeAAAAAEAAABAAAAAAAAAAAAAAABaAAAAAAAAAAAAAAAAAAAAAAAAAAAAAAAAAAAAAAAAAAAAAAAAAAAAAAAAAAAAAAAAAAAAAAAAAAAAAAAAAAAAAAAAAAAAAAAAAAAAFAAAADwAAAABAAAAAAAAAMzMz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T4AP///wEAAAAAAAAAAAAAAAAAAAAAAAAAAAAAAAAAAAAAAAAAAMzMzAB/f38A5+bmA8zMzADAwP8Af39/AAAAAAAAAAAAAAAAAAAAAAAAAAAAIQAAABgAAAAUAAAAQAIAAGYOAAAgHAAATh0AABAAAAAmAAAACAAAAP//////////"/>
              </a:ext>
            </a:extLst>
          </p:cNvSpPr>
          <p:nvPr/>
        </p:nvSpPr>
        <p:spPr>
          <a:xfrm>
            <a:off x="365760" y="2340610"/>
            <a:ext cx="4206240" cy="2423160"/>
          </a:xfrm>
          <a:prstGeom prst="rect">
            <a:avLst/>
          </a:prstGeom>
          <a:solidFill>
            <a:srgbClr val="F0F4F8"/>
          </a:solidFill>
          <a:ln w="12700" cap="flat" cmpd="sng" algn="ctr">
            <a:solidFill>
              <a:srgbClr val="CCCCCC"/>
            </a:solidFill>
            <a:prstDash val="solid"/>
            <a:headEnd type="none"/>
            <a:tailEnd type="none"/>
          </a:ln>
          <a:effectLst/>
        </p:spPr>
      </p:sp>
      <p:sp>
        <p:nvSpPr>
          <p:cNvPr id="8" name="Text 5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5O+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AIAAGYOAAAgHAAATh0AABAAAAAmAAAACAAAAP//////////"/>
              </a:ext>
            </a:extLst>
          </p:cNvSpPr>
          <p:nvPr/>
        </p:nvSpPr>
        <p:spPr>
          <a:xfrm>
            <a:off x="365760" y="2340610"/>
            <a:ext cx="4206240" cy="2423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999999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[Login Screen Screenshot]</a:t>
            </a:r>
            <a:endParaRPr lang="en-us" sz="1300" cap="none"/>
          </a:p>
        </p:txBody>
      </p:sp>
      <p:sp>
        <p:nvSpPr>
          <p:cNvPr id="9" name="Text 6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ML7x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B0AABAFAACQNgAA+gYAABAAAAAmAAAACAAAAP//////////"/>
              </a:ext>
            </a:extLst>
          </p:cNvSpPr>
          <p:nvPr/>
        </p:nvSpPr>
        <p:spPr>
          <a:xfrm>
            <a:off x="4846320" y="822960"/>
            <a:ext cx="4023360" cy="311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600" b="1" u="sng" cap="none">
                <a:solidFill>
                  <a:srgbClr val="1C3557"/>
                </a:solidFill>
              </a:rPr>
              <a:t>Admin Dashboard:</a:t>
            </a:r>
            <a:endParaRPr lang="en-us" sz="1600" cap="none"/>
          </a:p>
        </p:txBody>
      </p:sp>
      <p:sp>
        <p:nvSpPr>
          <p:cNvPr id="10" name="Text 7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AIVw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B0AADMHAACQNgAA8w0AABAAAAAmAAAACAAAAP//////////"/>
              </a:ext>
            </a:extLst>
          </p:cNvSpPr>
          <p:nvPr/>
        </p:nvSpPr>
        <p:spPr>
          <a:xfrm>
            <a:off x="4846320" y="1170305"/>
            <a:ext cx="4023360" cy="1097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Navigation sidebar with options: Dashboard, Add Student, Manage Students, Mark Attendance, Edit Attendance, Reports, Announcements, Settings, and Profile. Home shows summary statistics.</a:t>
            </a:r>
            <a:endParaRPr lang="en-us" sz="1400" cap="none"/>
          </a:p>
        </p:txBody>
      </p:sp>
      <p:sp>
        <p:nvSpPr>
          <p:cNvPr id="11" name="Shape 8"/>
          <p:cNvSpPr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EAAAAAAAAA8PT4AP///wgAAAAAAAAAAAAAAAAAAAAAAAAAAAAAAAAAAAAAeAAAAAEAAABAAAAAAAAAAAAAAABaAAAAAAAAAAAAAAAAAAAAAAAAAAAAAAAAAAAAAAAAAAAAAAAAAAAAAAAAAAAAAAAAAAAAAAAAAAAAAAAAAAAAAAAAAAAAAAAAAAAAFAAAADwAAAABAAAAAAAAAMzMz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AAF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T4AP///wEAAAAAAAAAAAAAAAAAAAAAAAAAAAAAAAAAAAAAAAAAAMzMzAB/f38A5+bmA8zMzADAwP8Af39/AAAAAAAAAAAAAAAAAAAAAAAAAAAAIQAAABgAAAAUAAAA0B0AAGYOAACQNgAATh0AABAAAAAmAAAACAAAAP//////////"/>
              </a:ext>
            </a:extLst>
          </p:cNvSpPr>
          <p:nvPr/>
        </p:nvSpPr>
        <p:spPr>
          <a:xfrm>
            <a:off x="4846320" y="2340610"/>
            <a:ext cx="4023360" cy="2423160"/>
          </a:xfrm>
          <a:prstGeom prst="rect">
            <a:avLst/>
          </a:prstGeom>
          <a:solidFill>
            <a:srgbClr val="F0F4F8"/>
          </a:solidFill>
          <a:ln w="12700" cap="flat" cmpd="sng" algn="ctr">
            <a:solidFill>
              <a:srgbClr val="CCCCCC"/>
            </a:solidFill>
            <a:prstDash val="solid"/>
            <a:headEnd type="none"/>
            <a:tailEnd type="none"/>
          </a:ln>
          <a:effectLst/>
        </p:spPr>
      </p:sp>
      <p:sp>
        <p:nvSpPr>
          <p:cNvPr id="12" name="Text 9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hJSk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B0AAGYOAACQNgAATh0AABAAAAAmAAAACAAAAP//////////"/>
              </a:ext>
            </a:extLst>
          </p:cNvSpPr>
          <p:nvPr/>
        </p:nvSpPr>
        <p:spPr>
          <a:xfrm>
            <a:off x="4846320" y="2340610"/>
            <a:ext cx="4023360" cy="2423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999999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[Admin Dashboard Screenshot]</a:t>
            </a:r>
            <a:endParaRPr lang="en-us" sz="1300" cap="none"/>
          </a:p>
        </p:txBody>
      </p:sp>
      <p:pic>
        <p:nvPicPr>
          <p:cNvPr id="13" name="Picture1"/>
          <p:cNvPicPr>
            <a:picLocks noChangeAspect="1"/>
            <a:extLst>
              <a:ext uri="smNativeData">
                <pr:smNativeData xmlns:pr="smNativeData" xmlns="smNativeData" val="SMDATA_17_ZhjSaRMAAAAlAAAAEQAAAC8B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DgCAACwDQAAKBwAAJ0eAAAA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360680" y="2225040"/>
            <a:ext cx="4216400" cy="275145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4" name="Picture2"/>
          <p:cNvPicPr>
            <a:picLocks noChangeAspect="1"/>
            <a:extLst>
              <a:ext uri="smNativeData">
                <pr:smNativeData xmlns:pr="smNativeData" xmlns="smNativeData" val="SMDATA_17_ZhjSaRMAAAAlAAAAEQAAAC8B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NYcAACBDgAAcDcAACcdAAAA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4687570" y="2357755"/>
            <a:ext cx="4324350" cy="23812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hjS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AMBAABzAAAA6wYAAIs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" y="73025"/>
            <a:ext cx="96012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Shape 0"/>
          <p:cNvSpPr>
            <a:extLst>
              <a:ext uri="smNativeData">
                <pr:smNativeData xmlns:pr="smNativeData" xmlns="smNativeData" val="SMDATA_15_ZhjSaRMAAAAlAAAAZQAAAA0AAAAAkAAAAEgAAACQAAAASAAAAAAAAAAAAAAAAAAAAAEAAABQAAAALuI7MevFyD8AAAAAAADwv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oundRect">
            <a:avLst>
              <a:gd name="adj" fmla="val 9677"/>
            </a:avLst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Text 1"/>
          <p:cNvSpPr>
            <a:extLst>
              <a:ext uri="smNativeData">
                <pr:smNativeData xmlns:pr="smNativeData" xmlns="smNativeData" val="SMDATA_15_ZhjS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SYSTEM IMPLEMENTATION</a:t>
            </a:r>
            <a:endParaRPr lang="en-us" sz="2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AIAABAFAAAgHAAA+gYAABAAAAAmAAAACAAAAP//////////"/>
              </a:ext>
            </a:extLst>
          </p:cNvSpPr>
          <p:nvPr/>
        </p:nvSpPr>
        <p:spPr>
          <a:xfrm>
            <a:off x="365760" y="822960"/>
            <a:ext cx="4206240" cy="311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600" b="1" u="sng" cap="none">
                <a:solidFill>
                  <a:srgbClr val="1C3557"/>
                </a:solidFill>
              </a:rPr>
              <a:t>Mark Attendance Screen:</a:t>
            </a:r>
            <a:endParaRPr lang="en-us" sz="1600" cap="none"/>
          </a:p>
        </p:txBody>
      </p:sp>
      <p:sp>
        <p:nvSpPr>
          <p:cNvPr id="6" name="Text 3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QAIAADMHAAAgHAAA0wwAABAAAAAmAAAACAAAAP//////////"/>
              </a:ext>
            </a:extLst>
          </p:cNvSpPr>
          <p:nvPr/>
        </p:nvSpPr>
        <p:spPr>
          <a:xfrm>
            <a:off x="365760" y="1170305"/>
            <a:ext cx="420624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Faculty selects a section, date, and subject, then marks each student PRESENT or ABSENT. Upsert logic prevents duplicate entries.</a:t>
            </a:r>
            <a:endParaRPr lang="en-us" sz="1400" cap="none"/>
          </a:p>
        </p:txBody>
      </p:sp>
      <p:sp>
        <p:nvSpPr>
          <p:cNvPr id="7" name="Shape 4"/>
          <p:cNvSpPr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EAAAAAAAAA8PT4AP///wgAAAAAAAAAAAAAAAAAAAAAAAAAAAAAAAAAAAAAeAAAAAEAAABAAAAAAAAAAAAAAABaAAAAAAAAAAAAAAAAAAAAAAAAAAAAAAAAAAAAAAAAAAAAAAAAAAAAAAAAAAAAAAAAAAAAAAAAAAAAAAAAAAAAAAAAAAAAAAAAAAAAFAAAADwAAAABAAAAAAAAAMzMz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T4AP///wEAAAAAAAAAAAAAAAAAAAAAAAAAAAAAAAAAAAAAAAAAAMzMzAB/f38A5+bmA8zMzADAwP8Af39/AAAAAAAAAAAAAAAAAAAAAAAAAAAAIQAAABgAAAAUAAAAQAIAAEYNAAAgHAAATh0AABAAAAAmAAAACAAAAP//////////"/>
              </a:ext>
            </a:extLst>
          </p:cNvSpPr>
          <p:nvPr/>
        </p:nvSpPr>
        <p:spPr>
          <a:xfrm>
            <a:off x="365760" y="2157730"/>
            <a:ext cx="4206240" cy="2606040"/>
          </a:xfrm>
          <a:prstGeom prst="rect">
            <a:avLst/>
          </a:prstGeom>
          <a:solidFill>
            <a:srgbClr val="F0F4F8"/>
          </a:solidFill>
          <a:ln w="12700" cap="flat" cmpd="sng" algn="ctr">
            <a:solidFill>
              <a:srgbClr val="CCCCCC"/>
            </a:solidFill>
            <a:prstDash val="solid"/>
            <a:headEnd type="none"/>
            <a:tailEnd type="none"/>
          </a:ln>
          <a:effectLst/>
        </p:spPr>
      </p:sp>
      <p:sp>
        <p:nvSpPr>
          <p:cNvPr id="8" name="Text 6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X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B0AABAFAACQNgAA+gYAABAAAAAmAAAACAAAAP//////////"/>
              </a:ext>
            </a:extLst>
          </p:cNvSpPr>
          <p:nvPr/>
        </p:nvSpPr>
        <p:spPr>
          <a:xfrm>
            <a:off x="4846320" y="822960"/>
            <a:ext cx="4023360" cy="3111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600" b="1" u="sng" cap="none">
                <a:solidFill>
                  <a:srgbClr val="1C3557"/>
                </a:solidFill>
              </a:rPr>
              <a:t>Reports Screen:</a:t>
            </a:r>
            <a:endParaRPr lang="en-us" sz="1600" cap="none"/>
          </a:p>
        </p:txBody>
      </p:sp>
      <p:sp>
        <p:nvSpPr>
          <p:cNvPr id="9" name="Text 7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B0AADMHAACQNgAA0wwAABAAAAAmAAAACAAAAP//////////"/>
              </a:ext>
            </a:extLst>
          </p:cNvSpPr>
          <p:nvPr/>
        </p:nvSpPr>
        <p:spPr>
          <a:xfrm>
            <a:off x="4846320" y="1170305"/>
            <a:ext cx="402336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Displays subject-wise attendance statistics (total classes, attended count, percentage). Filterable by section, year, subject, and date range.</a:t>
            </a:r>
            <a:endParaRPr lang="en-us" sz="1400" cap="none"/>
          </a:p>
        </p:txBody>
      </p:sp>
      <p:sp>
        <p:nvSpPr>
          <p:cNvPr id="10" name="Shape 8"/>
          <p:cNvSpPr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EAAAAAAAAA8PT4AP///wgAAAAAAAAAAAAAAAAAAAAAAAAAAAAAAAAAAAAAeAAAAAEAAABAAAAAAAAAAAAAAABaAAAAAAAAAAAAAAAAAAAAAAAAAAAAAAAAAAAAAAAAAAAAAAAAAAAAAAAAAAAAAAAAAAAAAAAAAAAAAAAAAAAAAAAAAAAAAAAAAAAAFAAAADwAAAABAAAAAAAAAMzMz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n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PT4AP///wEAAAAAAAAAAAAAAAAAAAAAAAAAAAAAAAAAAAAAAAAAAMzMzAB/f38A5+bmA8zMzADAwP8Af39/AAAAAAAAAAAAAAAAAAAAAAAAAAAAIQAAABgAAAAUAAAA0B0AAEYNAACQNgAATh0AABAAAAAmAAAACAAAAP//////////"/>
              </a:ext>
            </a:extLst>
          </p:cNvSpPr>
          <p:nvPr/>
        </p:nvSpPr>
        <p:spPr>
          <a:xfrm>
            <a:off x="4846320" y="2157730"/>
            <a:ext cx="4023360" cy="2606040"/>
          </a:xfrm>
          <a:prstGeom prst="rect">
            <a:avLst/>
          </a:prstGeom>
          <a:solidFill>
            <a:srgbClr val="F0F4F8"/>
          </a:solidFill>
          <a:ln w="12700" cap="flat" cmpd="sng" algn="ctr">
            <a:solidFill>
              <a:srgbClr val="CCCCCC"/>
            </a:solidFill>
            <a:prstDash val="solid"/>
            <a:headEnd type="none"/>
            <a:tailEnd type="none"/>
          </a:ln>
          <a:effectLst/>
        </p:spPr>
      </p:sp>
      <p:sp>
        <p:nvSpPr>
          <p:cNvPr id="11" name="Text 9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B0AAEYNAACQNgAATh0AABAAAAAmAAAACAAAAP//////////"/>
              </a:ext>
            </a:extLst>
          </p:cNvSpPr>
          <p:nvPr/>
        </p:nvSpPr>
        <p:spPr>
          <a:xfrm>
            <a:off x="4846320" y="2157730"/>
            <a:ext cx="4023360" cy="2606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999999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[Reports Screenshot]</a:t>
            </a:r>
            <a:endParaRPr lang="en-us" sz="1300" cap="none"/>
          </a:p>
        </p:txBody>
      </p:sp>
      <p:pic>
        <p:nvPicPr>
          <p:cNvPr id="12" name="Picture1"/>
          <p:cNvPicPr>
            <a:picLocks noChangeAspect="1"/>
            <a:extLst>
              <a:ext uri="smNativeData">
                <pr:smNativeData xmlns:pr="smNativeData" xmlns="smNativeData" val="SMDATA_17_ZhjSaRMAAAAlAAAAEQAAAC8B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CwCAAA5DgAAShwAABUcAAAA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353060" y="2312035"/>
            <a:ext cx="4245610" cy="225298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" name="Picture2"/>
          <p:cNvPicPr>
            <a:picLocks noChangeAspect="1"/>
            <a:extLst>
              <a:ext uri="smNativeData">
                <pr:smNativeData xmlns:pr="smNativeData" xmlns="smNativeData" val="SMDATA_17_ZhjSaRMAAAAlAAAAEQAAAC8B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J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KgeAAACEAAABTYAAF4cAAAA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602230"/>
            <a:ext cx="3797935" cy="200914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hjS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AMBAABzAAAA6wYAAIs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" y="73025"/>
            <a:ext cx="96012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Shape 0"/>
          <p:cNvSpPr>
            <a:extLst>
              <a:ext uri="smNativeData">
                <pr:smNativeData xmlns:pr="smNativeData" xmlns="smNativeData" val="SMDATA_15_ZhjSaRMAAAAlAAAAZQAAAA0AAAAAkAAAAEgAAACQAAAASAAAAAAAAAAAAAAAAAAAAAEAAABQAAAALuI7MevFyD8AAAAAAADwv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oundRect">
            <a:avLst>
              <a:gd name="adj" fmla="val 9677"/>
            </a:avLst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Text 1"/>
          <p:cNvSpPr>
            <a:extLst>
              <a:ext uri="smNativeData">
                <pr:smNativeData xmlns:pr="smNativeData" xmlns="smNativeData" val="SMDATA_15_ZhjS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FUTURE ENHANCEMENTS</a:t>
            </a:r>
            <a:endParaRPr lang="en-us" sz="2200" cap="none"/>
          </a:p>
        </p:txBody>
      </p:sp>
      <p:sp>
        <p:nvSpPr>
          <p:cNvPr id="5" name="Shape 2"/>
          <p:cNvSpPr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iAIAABAFAADeAgAAcAgAABAAAAAmAAAACAAAAP//////////"/>
              </a:ext>
            </a:extLst>
          </p:cNvSpPr>
          <p:nvPr/>
        </p:nvSpPr>
        <p:spPr>
          <a:xfrm>
            <a:off x="411480" y="822960"/>
            <a:ext cx="54610" cy="548640"/>
          </a:xfrm>
          <a:prstGeom prst="rect">
            <a:avLst/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6" name="Text 3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H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fQMAABAFAACNNQAA3QYAABAAAAAmAAAACAAAAP//////////"/>
              </a:ext>
            </a:extLst>
          </p:cNvSpPr>
          <p:nvPr/>
        </p:nvSpPr>
        <p:spPr>
          <a:xfrm>
            <a:off x="567055" y="822960"/>
            <a:ext cx="813816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1C3557"/>
                </a:solidFill>
              </a:rPr>
              <a:t>Web-Based Application:</a:t>
            </a:r>
            <a:endParaRPr lang="en-us" sz="1500" cap="none"/>
          </a:p>
        </p:txBody>
      </p:sp>
      <p:sp>
        <p:nvSpPr>
          <p:cNvPr id="7" name="Text 4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P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fQMAAMAGAACNNQAAxggAABAAAAAmAAAACAAAAP//////////"/>
              </a:ext>
            </a:extLst>
          </p:cNvSpPr>
          <p:nvPr/>
        </p:nvSpPr>
        <p:spPr>
          <a:xfrm>
            <a:off x="567055" y="1097280"/>
            <a:ext cx="8138160" cy="3289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Convert the desktop app into a web-based system for remote access — faculty can mark attendance from any browser.</a:t>
            </a:r>
            <a:endParaRPr lang="en-us" sz="1400" cap="none"/>
          </a:p>
        </p:txBody>
      </p:sp>
      <p:sp>
        <p:nvSpPr>
          <p:cNvPr id="8" name="Shape 5"/>
          <p:cNvSpPr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X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iAIAAAMKAADeAgAAYw0AABAAAAAmAAAACAAAAP//////////"/>
              </a:ext>
            </a:extLst>
          </p:cNvSpPr>
          <p:nvPr/>
        </p:nvSpPr>
        <p:spPr>
          <a:xfrm>
            <a:off x="411480" y="1627505"/>
            <a:ext cx="54610" cy="548640"/>
          </a:xfrm>
          <a:prstGeom prst="rect">
            <a:avLst/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9" name="Text 6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fQMAAAMKAACNNQAA0AsAABAAAAAmAAAACAAAAP//////////"/>
              </a:ext>
            </a:extLst>
          </p:cNvSpPr>
          <p:nvPr/>
        </p:nvSpPr>
        <p:spPr>
          <a:xfrm>
            <a:off x="567055" y="1627505"/>
            <a:ext cx="813816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1C3557"/>
                </a:solidFill>
              </a:rPr>
              <a:t>Automated Notifications:</a:t>
            </a:r>
            <a:endParaRPr lang="en-us" sz="1500" cap="none"/>
          </a:p>
        </p:txBody>
      </p:sp>
      <p:sp>
        <p:nvSpPr>
          <p:cNvPr id="10" name="Text 7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H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fQMAALMLAACNNQAAug0AABAAAAAmAAAACAAAAP//////////"/>
              </a:ext>
            </a:extLst>
          </p:cNvSpPr>
          <p:nvPr/>
        </p:nvSpPr>
        <p:spPr>
          <a:xfrm>
            <a:off x="567055" y="1901825"/>
            <a:ext cx="8138160" cy="3295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Send email/SMS alerts to students and parents when attendance falls below the required threshold (e.g., below 75%).</a:t>
            </a:r>
            <a:endParaRPr lang="en-us" sz="1400" cap="none"/>
          </a:p>
        </p:txBody>
      </p:sp>
      <p:sp>
        <p:nvSpPr>
          <p:cNvPr id="11" name="Shape 8"/>
          <p:cNvSpPr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X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iAIAAPYOAADeAgAAVhIAABAAAAAmAAAACAAAAP//////////"/>
              </a:ext>
            </a:extLst>
          </p:cNvSpPr>
          <p:nvPr/>
        </p:nvSpPr>
        <p:spPr>
          <a:xfrm>
            <a:off x="411480" y="2432050"/>
            <a:ext cx="54610" cy="548640"/>
          </a:xfrm>
          <a:prstGeom prst="rect">
            <a:avLst/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12" name="Text 9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H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fQMAAPYOAACNNQAAwxAAABAAAAAmAAAACAAAAP//////////"/>
              </a:ext>
            </a:extLst>
          </p:cNvSpPr>
          <p:nvPr/>
        </p:nvSpPr>
        <p:spPr>
          <a:xfrm>
            <a:off x="567055" y="2432050"/>
            <a:ext cx="813816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1C3557"/>
                </a:solidFill>
              </a:rPr>
              <a:t>Biometric / QR Code:</a:t>
            </a:r>
            <a:endParaRPr lang="en-us" sz="1500" cap="none"/>
          </a:p>
        </p:txBody>
      </p:sp>
      <p:sp>
        <p:nvSpPr>
          <p:cNvPr id="13" name="Text 10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fQMAAKYQAACNNQAArRIAABAAAAAmAAAACAAAAP//////////"/>
              </a:ext>
            </a:extLst>
          </p:cNvSpPr>
          <p:nvPr/>
        </p:nvSpPr>
        <p:spPr>
          <a:xfrm>
            <a:off x="567055" y="2706370"/>
            <a:ext cx="8138160" cy="3295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Integrate fingerprint scanners or QR code-based attendance marking to eliminate manual data entry errors.</a:t>
            </a:r>
            <a:endParaRPr lang="en-us" sz="1400" cap="none"/>
          </a:p>
        </p:txBody>
      </p:sp>
      <p:sp>
        <p:nvSpPr>
          <p:cNvPr id="14" name="Shape 11"/>
          <p:cNvSpPr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P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iAIAAOoTAADeAgAAShcAABAAAAAmAAAACAAAAP//////////"/>
              </a:ext>
            </a:extLst>
          </p:cNvSpPr>
          <p:nvPr/>
        </p:nvSpPr>
        <p:spPr>
          <a:xfrm>
            <a:off x="411480" y="3237230"/>
            <a:ext cx="54610" cy="548640"/>
          </a:xfrm>
          <a:prstGeom prst="rect">
            <a:avLst/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15" name="Text 12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fQMAAOoTAACNNQAAthUAABAAAAAmAAAACAAAAP//////////"/>
              </a:ext>
            </a:extLst>
          </p:cNvSpPr>
          <p:nvPr/>
        </p:nvSpPr>
        <p:spPr>
          <a:xfrm>
            <a:off x="567055" y="3237230"/>
            <a:ext cx="8138160" cy="2921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1C3557"/>
                </a:solidFill>
              </a:rPr>
              <a:t>Multi-User Network:</a:t>
            </a:r>
            <a:endParaRPr lang="en-us" sz="1500" cap="none"/>
          </a:p>
        </p:txBody>
      </p:sp>
      <p:sp>
        <p:nvSpPr>
          <p:cNvPr id="16" name="Text 13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fQMAAJoVAACNNQAAoBcAABAAAAAmAAAACAAAAP//////////"/>
              </a:ext>
            </a:extLst>
          </p:cNvSpPr>
          <p:nvPr/>
        </p:nvSpPr>
        <p:spPr>
          <a:xfrm>
            <a:off x="567055" y="3511550"/>
            <a:ext cx="8138160" cy="3289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Upgrade to a dedicated MySQL server to allow multiple faculty members to mark attendance simultaneously.</a:t>
            </a:r>
            <a:endParaRPr lang="en-us" sz="1400" cap="none"/>
          </a:p>
        </p:txBody>
      </p:sp>
      <p:sp>
        <p:nvSpPr>
          <p:cNvPr id="17" name="Shape 14"/>
          <p:cNvSpPr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iAIAAN0YAADeAgAAPRwAABAAAAAmAAAACAAAAP//////////"/>
              </a:ext>
            </a:extLst>
          </p:cNvSpPr>
          <p:nvPr/>
        </p:nvSpPr>
        <p:spPr>
          <a:xfrm>
            <a:off x="411480" y="4041775"/>
            <a:ext cx="54610" cy="548640"/>
          </a:xfrm>
          <a:prstGeom prst="rect">
            <a:avLst/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18" name="Text 15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fQMAAN0YAACNNQAAqhoAABAAAAAmAAAACAAAAP//////////"/>
              </a:ext>
            </a:extLst>
          </p:cNvSpPr>
          <p:nvPr/>
        </p:nvSpPr>
        <p:spPr>
          <a:xfrm>
            <a:off x="567055" y="4041775"/>
            <a:ext cx="8138160" cy="2927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500" b="1" cap="none">
                <a:solidFill>
                  <a:srgbClr val="1C3557"/>
                </a:solidFill>
              </a:rPr>
              <a:t>Improved Analytics:</a:t>
            </a:r>
            <a:endParaRPr lang="en-us" sz="1500" cap="none"/>
          </a:p>
        </p:txBody>
      </p:sp>
      <p:sp>
        <p:nvSpPr>
          <p:cNvPr id="19" name="Text 16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fQMAAI0aAACNNQAAkxwAABAAAAAmAAAACAAAAP//////////"/>
              </a:ext>
            </a:extLst>
          </p:cNvSpPr>
          <p:nvPr/>
        </p:nvSpPr>
        <p:spPr>
          <a:xfrm>
            <a:off x="567055" y="4316095"/>
            <a:ext cx="8138160" cy="3289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buNone/>
            </a:pPr>
            <a:r>
              <a:rPr lang="en-us" sz="14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Add graphical charts and trend analysis for attendance patterns, exportable to PDF or Excel format.</a:t>
            </a:r>
            <a:endParaRPr lang="en-us" sz="14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hjS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wX1c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AMBAABzAAAA6wYAAIs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" y="73025"/>
            <a:ext cx="96012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Shape 0"/>
          <p:cNvSpPr>
            <a:extLst>
              <a:ext uri="smNativeData">
                <pr:smNativeData xmlns:pr="smNativeData" xmlns="smNativeData" val="SMDATA_15_ZhjSaRMAAAAlAAAAZQAAAA0AAAAAkAAAAEgAAACQAAAASAAAAAAAAAAAAAAAAAAAAAEAAABQAAAALuI7MevFyD8AAAAAAADwv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oundRect">
            <a:avLst>
              <a:gd name="adj" fmla="val 9677"/>
            </a:avLst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Text 1"/>
          <p:cNvSpPr>
            <a:extLst>
              <a:ext uri="smNativeData">
                <pr:smNativeData xmlns:pr="smNativeData" xmlns="smNativeData" val="SMDATA_15_ZhjS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REFERENCES</a:t>
            </a:r>
            <a:endParaRPr lang="en-us" sz="2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BAFAAC4NQAAYB4AABAAAAAmAAAACAAAAP//////////"/>
              </a:ext>
            </a:extLst>
          </p:cNvSpPr>
          <p:nvPr/>
        </p:nvSpPr>
        <p:spPr>
          <a:xfrm>
            <a:off x="502920" y="822960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1.  Herbert Schildt, Java: The Complete Reference, Oracle Press, 11th Edition.</a:t>
            </a:r>
            <a:endParaRPr lang="en-us" sz="1500" cap="none"/>
          </a:p>
          <a:p>
            <a:pPr marL="0" indent="0">
              <a:spcAft>
                <a:spcPts val="800"/>
              </a:spcAft>
              <a:buNone/>
            </a:pPr>
            <a:r>
              <a:rPr lang="en-us" sz="15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2.  E. Balagurusamy, Programming with Java, McGraw Hill Education.</a:t>
            </a:r>
            <a:endParaRPr lang="en-us" sz="1500" cap="none"/>
          </a:p>
          <a:p>
            <a:pPr marL="0" indent="0">
              <a:spcAft>
                <a:spcPts val="800"/>
              </a:spcAft>
              <a:buNone/>
            </a:pPr>
            <a:r>
              <a:rPr lang="en-us" sz="15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3.  Korth, Silberschatz, Sudarshan, Database System Concepts, McGraw Hill.</a:t>
            </a:r>
            <a:endParaRPr lang="en-us" sz="1500" cap="none"/>
          </a:p>
          <a:p>
            <a:pPr marL="0" indent="0">
              <a:spcAft>
                <a:spcPts val="800"/>
              </a:spcAft>
              <a:buNone/>
            </a:pPr>
            <a:r>
              <a:rPr lang="en-us" sz="15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4.  SQLite Documentation — https://www.sqlite.org/docs.html</a:t>
            </a:r>
            <a:endParaRPr lang="en-us" sz="1500" cap="none"/>
          </a:p>
          <a:p>
            <a:pPr marL="0" indent="0">
              <a:spcAft>
                <a:spcPts val="800"/>
              </a:spcAft>
              <a:buNone/>
            </a:pPr>
            <a:r>
              <a:rPr lang="en-us" sz="15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5.  Java Documentation (Oracle) — https://docs.oracle.com/javase</a:t>
            </a:r>
            <a:endParaRPr lang="en-us" sz="1500" cap="none"/>
          </a:p>
          <a:p>
            <a:pPr marL="0" indent="0">
              <a:spcAft>
                <a:spcPts val="800"/>
              </a:spcAft>
              <a:buNone/>
            </a:pPr>
            <a:r>
              <a:rPr lang="en-us" sz="15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6.  JDBC Tutorial – GeeksforGeeks — https://www.geeksforgeeks.org/jdbc/</a:t>
            </a:r>
            <a:endParaRPr lang="en-us" sz="1500" cap="none"/>
          </a:p>
          <a:p>
            <a:pPr marL="0" indent="0">
              <a:spcAft>
                <a:spcPts val="800"/>
              </a:spcAft>
              <a:buNone/>
            </a:pPr>
            <a:r>
              <a:rPr lang="en-us" sz="15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7.  Java Swing Tutorial – TutorialsPoint — https://www.tutorialspoint.com/java_swing</a:t>
            </a:r>
            <a:endParaRPr lang="en-us" sz="1500" cap="none"/>
          </a:p>
          <a:p>
            <a:pPr marL="0" indent="0">
              <a:spcAft>
                <a:spcPts val="800"/>
              </a:spcAft>
              <a:buNone/>
            </a:pPr>
            <a:r>
              <a:rPr lang="en-us" sz="15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8.  W3Schools Java Tutorial — https://www.w3schools.com/java/</a:t>
            </a:r>
            <a:endParaRPr lang="en-us" sz="15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xmlns="smNativeData" val="SMDATA_17_ZhjSaRMAAAAlAAAAEQAAAC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AAAAAUAAAABAAAAAAAAAAAAAAAAAAAAAAAAAAAAAAAAAAAAAAAAAAAAAAACf39/AAAAAAPMzMwAwMD/AH9/fwAAAAAAAAAAAAAAAAD///8AAAAAACEAAAAYAAAAFAAAAAMBAABzAAAA6wYAAIsD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64465" y="73025"/>
            <a:ext cx="960120" cy="5029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Shape 0"/>
          <p:cNvSpPr>
            <a:extLst>
              <a:ext uri="smNativeData">
                <pr:smNativeData xmlns:pr="smNativeData" xmlns="smNativeData" val="SMDATA_15_ZhjSaRMAAAAlAAAAZQAAAA0AAAAAkAAAAEgAAACQAAAASAAAAAAAAAAAAAAAAAAAAAEAAABQAAAALuI7MevFyD8AAAAAAADwv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oundRect">
            <a:avLst>
              <a:gd name="adj" fmla="val 9677"/>
            </a:avLst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Text 1"/>
          <p:cNvSpPr>
            <a:extLst>
              <a:ext uri="smNativeData">
                <pr:smNativeData xmlns:pr="smNativeData" xmlns="smNativeData" val="SMDATA_15_ZhjSaRMAAAAlAAAAZAAAAA0AAAAAAAAAAAAAAAAAAAAAA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KAgAAHMAAABILQAA8AMAABAAAAAmAAAACAAAAP//////////"/>
              </a:ext>
            </a:extLst>
          </p:cNvSpPr>
          <p:nvPr/>
        </p:nvSpPr>
        <p:spPr>
          <a:xfrm>
            <a:off x="1325880" y="73025"/>
            <a:ext cx="6035040" cy="5670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0" indent="0" algn="ctr">
              <a:buNone/>
            </a:pPr>
            <a:r>
              <a:rPr lang="en-us" sz="2200" b="1" cap="none">
                <a:solidFill>
                  <a:srgbClr val="FFFFFF"/>
                </a:solidFill>
              </a:rPr>
              <a:t>CONCLUSION</a:t>
            </a:r>
            <a:endParaRPr lang="en-us" sz="2200" cap="none"/>
          </a:p>
        </p:txBody>
      </p:sp>
      <p:sp>
        <p:nvSpPr>
          <p:cNvPr id="5" name="Text 2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7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GAMAABAFAAC4NQAAYB4AABAAAAAmAAAACAAAAP//////////"/>
              </a:ext>
            </a:extLst>
          </p:cNvSpPr>
          <p:nvPr/>
        </p:nvSpPr>
        <p:spPr>
          <a:xfrm>
            <a:off x="502920" y="822960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The Student Attendance System was successfully developed as a portable Java desktop application.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It replaces manual attendance registers with an efficient, role-based digital solution for academic institutions.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Key functionalities — marking, editing, viewing attendance, generating reports, and managing students — are fully implemented.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Data security is ensured through SHA-256 password hashing and role-based access control (Admin, Faculty, Student).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Technologies: Core Java, Swing, JDBC, and SQLite provide reliable performance with MySQL scalability for institutional deployment.</a:t>
            </a:r>
            <a:endParaRPr lang="en-us" sz="1700" cap="none"/>
          </a:p>
          <a:p>
            <a:pPr marL="342900" indent="-342900">
              <a:spcAft>
                <a:spcPts val="600"/>
              </a:spcAft>
              <a:buSzTx/>
              <a:buChar char="•"/>
            </a:pPr>
            <a:r>
              <a:rPr lang="en-us" sz="1700" cap="none">
                <a:solidFill>
                  <a:srgbClr val="1A1A1A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The system improves faculty efficiency, reduces administrative workload, and provides a scalable platform for future enhancements.</a:t>
            </a:r>
            <a:endParaRPr lang="en-us" sz="17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 name="Slide 17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AAJAABwNQAA4BAAABAAAAAmAAAACAAAAP//////////"/>
              </a:ext>
            </a:extLst>
          </p:cNvSpPr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5400" b="1" cap="none" spc="128">
                <a:solidFill>
                  <a:srgbClr val="FFFFFF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THANK YOU</a:t>
            </a:r>
            <a:endParaRPr lang="en-us" sz="5400" cap="none"/>
          </a:p>
        </p:txBody>
      </p:sp>
      <p:sp>
        <p:nvSpPr>
          <p:cNvPr id="3" name="Shape 1"/>
          <p:cNvSpPr>
            <a:extLst>
              <a:ext uri="smNativeData">
                <pr:smNativeData xmlns:pr="smNativeData" xmlns="smNativeData" val="SMDATA_15_ZhjSaRMAAAAlAAAAZAAAAA0AAAAAkAAAAEgAAACQAAAASAAAAAAAAAAAAAAAAAAAAAEAAABQAAAAAAAAAAAA4D8AAAAAAADgPwAAAAAAAOA/AAAAAAAA4D8AAAAAAADgPwAAAAAAAOA/AAAAAAAA4D8AAAAAAADgPwAAAAAAAOA/AAAAAAAA4D8CAAAAjAAAAAEAAAAAAAAA6HMqAP///wgAAAAAAAAAAAAAAAAAAAAAAAAAAAAAAAAAAAAAeAAAAAEAAABAAAAAAAAAAAAAAABaAAAAAAAAAAAAAAAAAAAAAAAAAAAAAAAAAAAAAAAAAAAAAAAAAAAAAAAAAAAAAAAAAAAAAAAAAAAAAAAAAAAAAAAAAAAAAAAAAAAAFAAAADwAAAABAAAAAAAAAOhzKg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6HMqAP///wEAAAAAAAAAAAAAAAAAAAAAAAAAAAAAAAAAAAAAAAAAAOhzKgB/f38A5+bmA8zMzADAwP8Af39/AAAAAAAAAAAAAAAAAAAAAAAAAAAAIQAAABgAAAAUAAAAABIAAAASAABAJgAAVhIAABAAAAAmAAAACAAAAP//////////"/>
              </a:ext>
            </a:extLst>
          </p:cNvSpPr>
          <p:nvPr/>
        </p:nvSpPr>
        <p:spPr>
          <a:xfrm>
            <a:off x="2926080" y="2926080"/>
            <a:ext cx="3291840" cy="54610"/>
          </a:xfrm>
          <a:prstGeom prst="rect">
            <a:avLst/>
          </a:prstGeom>
          <a:solidFill>
            <a:srgbClr val="E8732A"/>
          </a:solidFill>
          <a:ln w="12700" cap="flat" cmpd="sng" algn="ctr">
            <a:solidFill>
              <a:srgbClr val="E8732A"/>
            </a:solidFill>
            <a:prstDash val="solid"/>
            <a:headEnd type="none"/>
            <a:tailEnd type="none"/>
          </a:ln>
          <a:effectLst/>
        </p:spPr>
      </p:sp>
      <p:sp>
        <p:nvSpPr>
          <p:cNvPr id="4" name="Text 2"/>
          <p:cNvSpPr>
            <a:extLst>
              <a:ext uri="smNativeData">
                <pr:smNativeData xmlns:pr="smNativeData" xmlns="smNativeData" val="SMDATA_15_ZhjSaRMAAAAlAAAAZAAAAA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RHLEBf///wEAAAAAAAAAAAAAAAAAAAAAAAAAAAAAAAAAAAAAAAAAAAAAAAB/f38A5+bmA8zMzADAwP8Af39/AAAAAAAAAAAAAAAAAAAAAAAAAAAAIQAAABgAAAAUAAAA0AIAALATAABwNQAA8BUAABAAAAAmAAAACAAAAP//////////"/>
              </a:ext>
            </a:extLst>
          </p:cNvSpPr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marL="0" indent="0" algn="ctr">
              <a:buNone/>
            </a:pPr>
            <a:r>
              <a:rPr lang="en-us" sz="1300" cap="none">
                <a:solidFill>
                  <a:srgbClr val="AABBD0"/>
                </a:solidFill>
                <a:latin typeface="Garamond" pitchFamily="1" charset="0"/>
                <a:ea typeface="Garamond" pitchFamily="1" charset="0"/>
                <a:cs typeface="Garamond" pitchFamily="1" charset="0"/>
              </a:rPr>
              <a:t>Student Attendance System  |  Java Cornerstone Project  |  Final Review</a:t>
            </a:r>
            <a:endParaRPr lang="en-us" sz="13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Presentation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Attendance System – Final Review</dc:title>
  <dc:subject>PptxGenJS Presentation</dc:subject>
  <dc:creator>PptxGenJS</dc:creator>
  <cp:keywords/>
  <dc:description/>
  <cp:lastModifiedBy>prave</cp:lastModifiedBy>
  <cp:revision>0</cp:revision>
  <dcterms:created xsi:type="dcterms:W3CDTF">2026-04-05T07:10:32Z</dcterms:created>
  <dcterms:modified xsi:type="dcterms:W3CDTF">2026-04-05T08:08:06Z</dcterms:modified>
</cp:coreProperties>
</file>